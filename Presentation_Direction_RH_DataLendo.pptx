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Turnover cumulé (%)</c:v>
                </c:pt>
              </c:strCache>
            </c:strRef>
          </c:tx>
          <c:spPr>
            <a:solidFill>
              <a:srgbClr val="1F3A6B"/>
            </a:solidFill>
          </c:spPr>
          <c:cat>
            <c:strRef>
              <c:f>Sheet1!$A$2:$A$11</c:f>
              <c:strCache>
                <c:ptCount val="10"/>
                <c:pt idx="0">
                  <c:v>Opérations</c:v>
                </c:pt>
                <c:pt idx="1">
                  <c:v>Direction Générale</c:v>
                </c:pt>
                <c:pt idx="2">
                  <c:v>Juridique</c:v>
                </c:pt>
                <c:pt idx="3">
                  <c:v>Informatique</c:v>
                </c:pt>
                <c:pt idx="4">
                  <c:v>Data &amp; Analytics</c:v>
                </c:pt>
                <c:pt idx="5">
                  <c:v>Marketing</c:v>
                </c:pt>
                <c:pt idx="6">
                  <c:v>Finance</c:v>
                </c:pt>
                <c:pt idx="7">
                  <c:v>Service Client</c:v>
                </c:pt>
                <c:pt idx="8">
                  <c:v>Ventes</c:v>
                </c:pt>
                <c:pt idx="9">
                  <c:v>Ressources Humaines</c:v>
                </c:pt>
              </c:strCache>
            </c:strRef>
          </c:cat>
          <c:val>
            <c:numRef>
              <c:f>Sheet1!$B$2:$B$11</c:f>
              <c:numCache>
                <c:formatCode>General</c:formatCode>
                <c:ptCount val="10"/>
                <c:pt idx="0">
                  <c:v>14.7</c:v>
                </c:pt>
                <c:pt idx="1">
                  <c:v>13.8</c:v>
                </c:pt>
                <c:pt idx="2">
                  <c:v>12.4</c:v>
                </c:pt>
                <c:pt idx="3">
                  <c:v>11.9</c:v>
                </c:pt>
                <c:pt idx="4">
                  <c:v>11.8</c:v>
                </c:pt>
                <c:pt idx="5">
                  <c:v>11.3</c:v>
                </c:pt>
                <c:pt idx="6">
                  <c:v>10.1</c:v>
                </c:pt>
                <c:pt idx="7">
                  <c:v>9.6</c:v>
                </c:pt>
                <c:pt idx="8">
                  <c:v>9.4</c:v>
                </c:pt>
                <c:pt idx="9">
                  <c:v>9.2</c:v>
                </c:pt>
              </c:numCache>
            </c:numRef>
          </c:val>
        </c:ser>
        <c:dLbls>
          <c:numFmt formatCode="0.0&quot; %&quot;" sourceLinked="0"/>
          <c:txPr>
            <a:bodyPr/>
            <a:lstStyle/>
            <a:p>
              <a:pPr>
                <a:defRPr sz="1200" b="0">
                  <a:solidFill>
                    <a:srgbClr val="1B1F2A"/>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spPr>
          <a:ln>
            <a:solidFill>
              <a:srgbClr val="C9CFDA"/>
            </a:solidFill>
          </a:ln>
        </c:spPr>
        <c:txPr>
          <a:bodyPr/>
          <a:lstStyle/>
          <a:p>
            <a:pPr>
              <a:defRPr sz="1200">
                <a:solidFill>
                  <a:srgbClr val="1B1F2A"/>
                </a:solidFill>
              </a:defRPr>
            </a:pPr>
          </a:p>
        </c:txPr>
        <c:crossAx val="-2113994440"/>
        <c:crosses val="autoZero"/>
        <c:auto val="1"/>
        <c:lblAlgn val="ctr"/>
        <c:lblOffset val="100"/>
        <c:noMultiLvlLbl val="0"/>
      </c:catAx>
      <c:valAx>
        <c:axId val="-2113994440"/>
        <c:scaling>
          <c:max val="18.0"/>
          <c:min val="0.0"/>
        </c:scaling>
        <c:delete/>
        <c:axPos val="b"/>
        <c:majorTickMark val="out"/>
        <c:minorTickMark val="none"/>
        <c:tickLblPos val="nextTo"/>
        <c:spPr>
          <a:ln>
            <a:noFill/>
          </a:ln>
        </c:spPr>
        <c:txPr>
          <a:bodyPr/>
          <a:lstStyle/>
          <a:p>
            <a:pPr>
              <a:defRPr sz="1100">
                <a:solidFill>
                  <a:srgbClr val="5B6475"/>
                </a:solidFill>
              </a:defRPr>
            </a:pPr>
          </a:p>
        </c:txPr>
        <c:crossAx val="-2068027336"/>
        <c:crosses val="autoZero"/>
      </c:valAx>
    </c:plotArea>
    <c:dispBlanksAs val="gap"/>
  </c:chart>
  <c:txPr>
    <a:bodyPr/>
    <a:lstStyle/>
    <a:p>
      <a:pPr>
        <a:defRPr sz="1200">
          <a:solidFill>
            <a:srgbClr val="5B6475"/>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stacked"/>
        <c:ser>
          <c:idx val="0"/>
          <c:order val="0"/>
          <c:tx>
            <c:strRef>
              <c:f>Sheet1!$B$1</c:f>
              <c:strCache>
                <c:ptCount val="1"/>
                <c:pt idx="0">
                  <c:v>Volontaires</c:v>
                </c:pt>
              </c:strCache>
            </c:strRef>
          </c:tx>
          <c:spPr>
            <a:solidFill>
              <a:srgbClr val="1F3A6B"/>
            </a:solidFill>
          </c:spPr>
          <c:cat>
            <c:strRef>
              <c:f>Sheet1!$A$2:$A$9</c:f>
              <c:strCache>
                <c:ptCount val="8"/>
                <c:pt idx="0">
                  <c:v>2019</c:v>
                </c:pt>
                <c:pt idx="1">
                  <c:v>2020</c:v>
                </c:pt>
                <c:pt idx="2">
                  <c:v>2021</c:v>
                </c:pt>
                <c:pt idx="3">
                  <c:v>2022</c:v>
                </c:pt>
                <c:pt idx="4">
                  <c:v>2023</c:v>
                </c:pt>
                <c:pt idx="5">
                  <c:v>2024</c:v>
                </c:pt>
                <c:pt idx="6">
                  <c:v>2025</c:v>
                </c:pt>
                <c:pt idx="7">
                  <c:v>2026*</c:v>
                </c:pt>
              </c:strCache>
            </c:strRef>
          </c:cat>
          <c:val>
            <c:numRef>
              <c:f>Sheet1!$B$2:$B$9</c:f>
              <c:numCache>
                <c:formatCode>General</c:formatCode>
                <c:ptCount val="8"/>
                <c:pt idx="0">
                  <c:v>2</c:v>
                </c:pt>
                <c:pt idx="1">
                  <c:v>4</c:v>
                </c:pt>
                <c:pt idx="2">
                  <c:v>12</c:v>
                </c:pt>
                <c:pt idx="3">
                  <c:v>11</c:v>
                </c:pt>
                <c:pt idx="4">
                  <c:v>17</c:v>
                </c:pt>
                <c:pt idx="5">
                  <c:v>19</c:v>
                </c:pt>
                <c:pt idx="6">
                  <c:v>13</c:v>
                </c:pt>
                <c:pt idx="7">
                  <c:v>7</c:v>
                </c:pt>
              </c:numCache>
            </c:numRef>
          </c:val>
        </c:ser>
        <c:ser>
          <c:idx val="1"/>
          <c:order val="1"/>
          <c:tx>
            <c:strRef>
              <c:f>Sheet1!$C$1</c:f>
              <c:strCache>
                <c:ptCount val="1"/>
                <c:pt idx="0">
                  <c:v>Involontaires</c:v>
                </c:pt>
              </c:strCache>
            </c:strRef>
          </c:tx>
          <c:spPr>
            <a:solidFill>
              <a:srgbClr val="E8553A"/>
            </a:solidFill>
          </c:spPr>
          <c:cat>
            <c:strRef>
              <c:f>Sheet1!$A$2:$A$9</c:f>
              <c:strCache>
                <c:ptCount val="8"/>
                <c:pt idx="0">
                  <c:v>2019</c:v>
                </c:pt>
                <c:pt idx="1">
                  <c:v>2020</c:v>
                </c:pt>
                <c:pt idx="2">
                  <c:v>2021</c:v>
                </c:pt>
                <c:pt idx="3">
                  <c:v>2022</c:v>
                </c:pt>
                <c:pt idx="4">
                  <c:v>2023</c:v>
                </c:pt>
                <c:pt idx="5">
                  <c:v>2024</c:v>
                </c:pt>
                <c:pt idx="6">
                  <c:v>2025</c:v>
                </c:pt>
                <c:pt idx="7">
                  <c:v>2026*</c:v>
                </c:pt>
              </c:strCache>
            </c:strRef>
          </c:cat>
          <c:val>
            <c:numRef>
              <c:f>Sheet1!$C$2:$C$9</c:f>
              <c:numCache>
                <c:formatCode>General</c:formatCode>
                <c:ptCount val="8"/>
                <c:pt idx="0">
                  <c:v>1</c:v>
                </c:pt>
                <c:pt idx="1">
                  <c:v>5</c:v>
                </c:pt>
                <c:pt idx="2">
                  <c:v>8</c:v>
                </c:pt>
                <c:pt idx="3">
                  <c:v>11</c:v>
                </c:pt>
                <c:pt idx="4">
                  <c:v>15</c:v>
                </c:pt>
                <c:pt idx="5">
                  <c:v>23</c:v>
                </c:pt>
                <c:pt idx="6">
                  <c:v>9</c:v>
                </c:pt>
                <c:pt idx="7">
                  <c:v>14</c:v>
                </c:pt>
              </c:numCache>
            </c:numRef>
          </c:val>
        </c:ser>
        <c:dLbls>
          <c:numFmt formatCode="0" sourceLinked="0"/>
          <c:txPr>
            <a:bodyPr/>
            <a:lstStyle/>
            <a:p>
              <a:pPr>
                <a:defRPr sz="1200" b="1">
                  <a:solidFill>
                    <a:srgbClr val="FFFFFF"/>
                  </a:solidFill>
                </a:defRPr>
              </a:pPr>
            </a:p>
          </c:txPr>
          <c:dLblPos val="ctr"/>
          <c:showLegendKey val="0"/>
          <c:showVal val="1"/>
          <c:showCatName val="0"/>
          <c:showSerName val="0"/>
          <c:showPercent val="0"/>
          <c:showBubbleSize val="0"/>
          <c:showLeaderLines val="1"/>
        </c:dLbls>
        <c:gapWidth val="55"/>
        <c:overlap val="100"/>
        <c:axId val="-2068027336"/>
        <c:axId val="-2113994440"/>
      </c:barChart>
      <c:catAx>
        <c:axId val="-2068027336"/>
        <c:scaling>
          <c:orientation val="minMax"/>
        </c:scaling>
        <c:delete val="0"/>
        <c:axPos val="b"/>
        <c:majorTickMark val="out"/>
        <c:minorTickMark val="none"/>
        <c:tickLblPos val="nextTo"/>
        <c:spPr>
          <a:ln>
            <a:solidFill>
              <a:srgbClr val="C9CFDA"/>
            </a:solidFill>
          </a:ln>
        </c:spPr>
        <c:txPr>
          <a:bodyPr/>
          <a:lstStyle/>
          <a:p>
            <a:pPr>
              <a:defRPr sz="1200">
                <a:solidFill>
                  <a:srgbClr val="1B1F2A"/>
                </a:solidFill>
              </a:defRPr>
            </a:pPr>
          </a:p>
        </c:txPr>
        <c:crossAx val="-2113994440"/>
        <c:crosses val="autoZero"/>
        <c:auto val="1"/>
        <c:lblAlgn val="ctr"/>
        <c:lblOffset val="100"/>
        <c:noMultiLvlLbl val="0"/>
      </c:catAx>
      <c:valAx>
        <c:axId val="-2113994440"/>
        <c:scaling>
          <c:max val="45.0"/>
          <c:min val="0.0"/>
        </c:scaling>
        <c:delete val="0"/>
        <c:axPos val="l"/>
        <c:majorGridlines>
          <c:spPr>
            <a:ln>
              <a:solidFill>
                <a:srgbClr val="E3E7EE"/>
              </a:solidFill>
            </a:ln>
          </c:spPr>
        </c:majorGridlines>
        <c:majorTickMark val="out"/>
        <c:minorTickMark val="none"/>
        <c:tickLblPos val="nextTo"/>
        <c:spPr>
          <a:ln>
            <a:noFill/>
          </a:ln>
        </c:spPr>
        <c:txPr>
          <a:bodyPr/>
          <a:lstStyle/>
          <a:p>
            <a:pPr>
              <a:defRPr sz="1100">
                <a:solidFill>
                  <a:srgbClr val="5B6475"/>
                </a:solidFill>
              </a:defRPr>
            </a:pPr>
          </a:p>
        </c:txPr>
        <c:crossAx val="-2068027336"/>
        <c:crosses val="autoZero"/>
        <c:majorUnit val="10.0"/>
      </c:valAx>
    </c:plotArea>
    <c:legend>
      <c:legendPos val="b"/>
      <c:overlay val="0"/>
      <c:txPr>
        <a:bodyPr/>
        <a:lstStyle/>
        <a:p>
          <a:pPr>
            <a:defRPr sz="1200">
              <a:solidFill>
                <a:srgbClr val="1B1F2A"/>
              </a:solidFill>
            </a:defRPr>
          </a:pPr>
        </a:p>
      </c:txPr>
    </c:legend>
    <c:dispBlanksAs val="gap"/>
  </c:chart>
  <c:txPr>
    <a:bodyPr/>
    <a:lstStyle/>
    <a:p>
      <a:pPr>
        <a:defRPr sz="1200">
          <a:solidFill>
            <a:srgbClr val="5B6475"/>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À 12 mois</c:v>
                </c:pt>
              </c:strCache>
            </c:strRef>
          </c:tx>
          <c:spPr>
            <a:solidFill>
              <a:srgbClr val="1F3A6B"/>
            </a:solidFill>
          </c:spPr>
          <c:cat>
            <c:strRef>
              <c:f>Sheet1!$A$2:$A$6</c:f>
              <c:strCache>
                <c:ptCount val="5"/>
                <c:pt idx="0">
                  <c:v>2019</c:v>
                </c:pt>
                <c:pt idx="1">
                  <c:v>2020</c:v>
                </c:pt>
                <c:pt idx="2">
                  <c:v>2021</c:v>
                </c:pt>
                <c:pt idx="3">
                  <c:v>2022</c:v>
                </c:pt>
                <c:pt idx="4">
                  <c:v>2023</c:v>
                </c:pt>
              </c:strCache>
            </c:strRef>
          </c:cat>
          <c:val>
            <c:numRef>
              <c:f>Sheet1!$B$2:$B$6</c:f>
              <c:numCache>
                <c:formatCode>General</c:formatCode>
                <c:ptCount val="5"/>
                <c:pt idx="0">
                  <c:v>98.2</c:v>
                </c:pt>
                <c:pt idx="1">
                  <c:v>97.2</c:v>
                </c:pt>
                <c:pt idx="2">
                  <c:v>98.5</c:v>
                </c:pt>
                <c:pt idx="3">
                  <c:v>99.4</c:v>
                </c:pt>
                <c:pt idx="4">
                  <c:v>98.6</c:v>
                </c:pt>
              </c:numCache>
            </c:numRef>
          </c:val>
        </c:ser>
        <c:ser>
          <c:idx val="1"/>
          <c:order val="1"/>
          <c:tx>
            <c:strRef>
              <c:f>Sheet1!$C$1</c:f>
              <c:strCache>
                <c:ptCount val="1"/>
                <c:pt idx="0">
                  <c:v>À 24 mois</c:v>
                </c:pt>
              </c:strCache>
            </c:strRef>
          </c:tx>
          <c:spPr>
            <a:solidFill>
              <a:srgbClr val="6AA3E6"/>
            </a:solidFill>
          </c:spPr>
          <c:cat>
            <c:strRef>
              <c:f>Sheet1!$A$2:$A$6</c:f>
              <c:strCache>
                <c:ptCount val="5"/>
                <c:pt idx="0">
                  <c:v>2019</c:v>
                </c:pt>
                <c:pt idx="1">
                  <c:v>2020</c:v>
                </c:pt>
                <c:pt idx="2">
                  <c:v>2021</c:v>
                </c:pt>
                <c:pt idx="3">
                  <c:v>2022</c:v>
                </c:pt>
                <c:pt idx="4">
                  <c:v>2023</c:v>
                </c:pt>
              </c:strCache>
            </c:strRef>
          </c:cat>
          <c:val>
            <c:numRef>
              <c:f>Sheet1!$C$2:$C$6</c:f>
              <c:numCache>
                <c:formatCode>General</c:formatCode>
                <c:ptCount val="5"/>
                <c:pt idx="0">
                  <c:v>95.0</c:v>
                </c:pt>
                <c:pt idx="1">
                  <c:v>95.1</c:v>
                </c:pt>
                <c:pt idx="2">
                  <c:v>96.7</c:v>
                </c:pt>
                <c:pt idx="3">
                  <c:v>95.0</c:v>
                </c:pt>
                <c:pt idx="4">
                  <c:v>96.1</c:v>
                </c:pt>
              </c:numCache>
            </c:numRef>
          </c:val>
        </c:ser>
        <c:ser>
          <c:idx val="2"/>
          <c:order val="2"/>
          <c:tx>
            <c:strRef>
              <c:f>Sheet1!$D$1</c:f>
              <c:strCache>
                <c:ptCount val="1"/>
                <c:pt idx="0">
                  <c:v>Actuelle</c:v>
                </c:pt>
              </c:strCache>
            </c:strRef>
          </c:tx>
          <c:spPr>
            <a:solidFill>
              <a:srgbClr val="BCD6F4"/>
            </a:solidFill>
          </c:spPr>
          <c:cat>
            <c:strRef>
              <c:f>Sheet1!$A$2:$A$6</c:f>
              <c:strCache>
                <c:ptCount val="5"/>
                <c:pt idx="0">
                  <c:v>2019</c:v>
                </c:pt>
                <c:pt idx="1">
                  <c:v>2020</c:v>
                </c:pt>
                <c:pt idx="2">
                  <c:v>2021</c:v>
                </c:pt>
                <c:pt idx="3">
                  <c:v>2022</c:v>
                </c:pt>
                <c:pt idx="4">
                  <c:v>2023</c:v>
                </c:pt>
              </c:strCache>
            </c:strRef>
          </c:cat>
          <c:val>
            <c:numRef>
              <c:f>Sheet1!$D$2:$D$6</c:f>
              <c:numCache>
                <c:formatCode>General</c:formatCode>
                <c:ptCount val="5"/>
                <c:pt idx="0">
                  <c:v>87.5</c:v>
                </c:pt>
                <c:pt idx="1">
                  <c:v>85.4</c:v>
                </c:pt>
                <c:pt idx="2">
                  <c:v>88.8</c:v>
                </c:pt>
                <c:pt idx="3">
                  <c:v>88.0</c:v>
                </c:pt>
                <c:pt idx="4">
                  <c:v>93.3</c:v>
                </c:pt>
              </c:numCache>
            </c:numRef>
          </c:val>
        </c:ser>
        <c:dLbls>
          <c:numFmt formatCode="0" sourceLinked="0"/>
          <c:txPr>
            <a:bodyPr/>
            <a:lstStyle/>
            <a:p>
              <a:pPr>
                <a:defRPr sz="1100" b="0">
                  <a:solidFill>
                    <a:srgbClr val="1B1F2A"/>
                  </a:solidFill>
                </a:defRPr>
              </a:pPr>
            </a:p>
          </c:txPr>
          <c:dLblPos val="outEnd"/>
          <c:showLegendKey val="0"/>
          <c:showVal val="1"/>
          <c:showCatName val="0"/>
          <c:showSerName val="0"/>
          <c:showPercent val="0"/>
          <c:showBubbleSize val="0"/>
          <c:showLeaderLines val="1"/>
        </c:dLbls>
        <c:gapWidth val="60"/>
        <c:overlap val="-5"/>
        <c:axId val="-2068027336"/>
        <c:axId val="-2113994440"/>
      </c:barChart>
      <c:catAx>
        <c:axId val="-2068027336"/>
        <c:scaling>
          <c:orientation val="minMax"/>
        </c:scaling>
        <c:delete val="0"/>
        <c:axPos val="b"/>
        <c:majorTickMark val="out"/>
        <c:minorTickMark val="none"/>
        <c:tickLblPos val="nextTo"/>
        <c:spPr>
          <a:ln>
            <a:solidFill>
              <a:srgbClr val="C9CFDA"/>
            </a:solidFill>
          </a:ln>
        </c:spPr>
        <c:txPr>
          <a:bodyPr/>
          <a:lstStyle/>
          <a:p>
            <a:pPr>
              <a:defRPr sz="1200">
                <a:solidFill>
                  <a:srgbClr val="1B1F2A"/>
                </a:solidFill>
              </a:defRPr>
            </a:pPr>
          </a:p>
        </c:txPr>
        <c:crossAx val="-2113994440"/>
        <c:crosses val="autoZero"/>
        <c:auto val="1"/>
        <c:lblAlgn val="ctr"/>
        <c:lblOffset val="100"/>
        <c:noMultiLvlLbl val="0"/>
      </c:catAx>
      <c:valAx>
        <c:axId val="-2113994440"/>
        <c:scaling>
          <c:max val="110.0"/>
          <c:min val="0.0"/>
        </c:scaling>
        <c:delete val="0"/>
        <c:axPos val="l"/>
        <c:majorGridlines>
          <c:spPr>
            <a:ln>
              <a:solidFill>
                <a:srgbClr val="E3E7EE"/>
              </a:solidFill>
            </a:ln>
          </c:spPr>
        </c:majorGridlines>
        <c:numFmt formatCode="0&quot;%&quot;" sourceLinked="0"/>
        <c:majorTickMark val="out"/>
        <c:minorTickMark val="none"/>
        <c:tickLblPos val="nextTo"/>
        <c:spPr>
          <a:ln>
            <a:noFill/>
          </a:ln>
        </c:spPr>
        <c:txPr>
          <a:bodyPr/>
          <a:lstStyle/>
          <a:p>
            <a:pPr>
              <a:defRPr sz="1100">
                <a:solidFill>
                  <a:srgbClr val="5B6475"/>
                </a:solidFill>
              </a:defRPr>
            </a:pPr>
          </a:p>
        </c:txPr>
        <c:crossAx val="-2068027336"/>
        <c:crosses val="autoZero"/>
        <c:majorUnit val="25.0"/>
      </c:valAx>
    </c:plotArea>
    <c:legend>
      <c:legendPos val="b"/>
      <c:overlay val="0"/>
      <c:txPr>
        <a:bodyPr/>
        <a:lstStyle/>
        <a:p>
          <a:pPr>
            <a:defRPr sz="1200">
              <a:solidFill>
                <a:srgbClr val="1B1F2A"/>
              </a:solidFill>
            </a:defRPr>
          </a:pPr>
        </a:p>
      </c:txPr>
    </c:legend>
    <c:dispBlanksAs val="gap"/>
  </c:chart>
  <c:txPr>
    <a:bodyPr/>
    <a:lstStyle/>
    <a:p>
      <a:pPr>
        <a:defRPr sz="1200">
          <a:solidFill>
            <a:srgbClr val="5B6475"/>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Employés évalués</c:v>
                </c:pt>
              </c:strCache>
            </c:strRef>
          </c:tx>
          <c:dPt>
            <c:idx val="0"/>
            <c:spPr>
              <a:solidFill>
                <a:srgbClr val="6AA3E6"/>
              </a:solidFill>
              <a:ln w="25400">
                <a:solidFill>
                  <a:srgbClr val="FFFFFF"/>
                </a:solidFill>
              </a:ln>
            </c:spPr>
          </c:dPt>
          <c:dPt>
            <c:idx val="1"/>
            <c:spPr>
              <a:solidFill>
                <a:srgbClr val="1F3A6B"/>
              </a:solidFill>
              <a:ln w="25400">
                <a:solidFill>
                  <a:srgbClr val="FFFFFF"/>
                </a:solidFill>
              </a:ln>
            </c:spPr>
          </c:dPt>
          <c:dPt>
            <c:idx val="2"/>
            <c:spPr>
              <a:solidFill>
                <a:srgbClr val="14213D"/>
              </a:solidFill>
              <a:ln w="25400">
                <a:solidFill>
                  <a:srgbClr val="FFFFFF"/>
                </a:solidFill>
              </a:ln>
            </c:spPr>
          </c:dPt>
          <c:cat>
            <c:strRef>
              <c:f>Sheet1!$A$2:$A$4</c:f>
              <c:strCache>
                <c:ptCount val="3"/>
                <c:pt idx="0">
                  <c:v>Faible (&lt; 70)</c:v>
                </c:pt>
                <c:pt idx="1">
                  <c:v>Moyen (70 à &lt; 78)</c:v>
                </c:pt>
                <c:pt idx="2">
                  <c:v>Élevé (≥ 78)</c:v>
                </c:pt>
              </c:strCache>
            </c:strRef>
          </c:cat>
          <c:val>
            <c:numRef>
              <c:f>Sheet1!$B$2:$B$4</c:f>
              <c:numCache>
                <c:formatCode>General</c:formatCode>
                <c:ptCount val="3"/>
                <c:pt idx="0">
                  <c:v>251</c:v>
                </c:pt>
                <c:pt idx="1">
                  <c:v>852</c:v>
                </c:pt>
                <c:pt idx="2">
                  <c:v>345</c:v>
                </c:pt>
              </c:numCache>
            </c:numRef>
          </c:val>
        </c:ser>
        <c:dLbls>
          <c:numFmt formatCode="0%" sourceLinked="0"/>
          <c:txPr>
            <a:bodyPr/>
            <a:lstStyle/>
            <a:p>
              <a:pPr>
                <a:defRPr sz="1500" b="1">
                  <a:solidFill>
                    <a:srgbClr val="FFFFFF"/>
                  </a:solidFill>
                </a:defRPr>
              </a:pPr>
            </a:p>
          </c:txPr>
          <c:showLegendKey val="0"/>
          <c:showVal val="0"/>
          <c:showCatName val="0"/>
          <c:showSerName val="0"/>
          <c:showPercent val="1"/>
          <c:showBubbleSize val="0"/>
          <c:showLeaderLines val="1"/>
        </c:dLbls>
        <c:firstSliceAng val="0"/>
        <c:holeSize val="50"/>
      </c:doughnutChart>
    </c:plotArea>
    <c:legend>
      <c:legendPos val="b"/>
      <c:layout/>
      <c:overlay val="0"/>
      <c:txPr>
        <a:bodyPr/>
        <a:lstStyle/>
        <a:p>
          <a:pPr>
            <a:defRPr sz="1300">
              <a:solidFill>
                <a:srgbClr val="1B1F2A"/>
              </a:solidFill>
            </a:defRPr>
          </a:pPr>
        </a:p>
      </c:txPr>
    </c:legend>
    <c:plotVisOnly val="1"/>
    <c:dispBlanksAs val="gap"/>
    <c:showDLblsOverMax val="0"/>
  </c:chart>
  <c:txPr>
    <a:bodyPr/>
    <a:lstStyle/>
    <a:p>
      <a:pPr>
        <a:defRPr sz="1300">
          <a:solidFill>
            <a:srgbClr val="5B6475"/>
          </a:solidFill>
          <a:latin typeface="Calibri"/>
        </a:defRPr>
      </a:pPr>
      <a:endParaR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Salaire moyen</c:v>
                </c:pt>
              </c:strCache>
            </c:strRef>
          </c:tx>
          <c:spPr>
            <a:solidFill>
              <a:srgbClr val="1F3A6B"/>
            </a:solidFill>
          </c:spPr>
          <c:dPt>
            <c:idx val="2"/>
            <c:spPr>
              <a:solidFill>
                <a:srgbClr val="E8553A"/>
              </a:solidFill>
            </c:spPr>
          </c:dPt>
          <c:cat>
            <c:strRef>
              <c:f>Sheet1!$A$2:$A$4</c:f>
              <c:strCache>
                <c:ptCount val="3"/>
                <c:pt idx="0">
                  <c:v>Performance faible</c:v>
                </c:pt>
                <c:pt idx="1">
                  <c:v>Performance moyenne</c:v>
                </c:pt>
                <c:pt idx="2">
                  <c:v>Performance élevée</c:v>
                </c:pt>
              </c:strCache>
            </c:strRef>
          </c:cat>
          <c:val>
            <c:numRef>
              <c:f>Sheet1!$B$2:$B$4</c:f>
              <c:numCache>
                <c:formatCode>General</c:formatCode>
                <c:ptCount val="3"/>
                <c:pt idx="0">
                  <c:v>2985</c:v>
                </c:pt>
                <c:pt idx="1">
                  <c:v>2920</c:v>
                </c:pt>
                <c:pt idx="2">
                  <c:v>2865</c:v>
                </c:pt>
              </c:numCache>
            </c:numRef>
          </c:val>
        </c:ser>
        <c:dLbls>
          <c:numFmt formatCode="#,##0" sourceLinked="0"/>
          <c:txPr>
            <a:bodyPr/>
            <a:lstStyle/>
            <a:p>
              <a:pPr>
                <a:defRPr sz="1500" b="1">
                  <a:solidFill>
                    <a:srgbClr val="1B1F2A"/>
                  </a:solidFill>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spPr>
          <a:ln>
            <a:solidFill>
              <a:srgbClr val="C9CFDA"/>
            </a:solidFill>
          </a:ln>
        </c:spPr>
        <c:txPr>
          <a:bodyPr/>
          <a:lstStyle/>
          <a:p>
            <a:pPr>
              <a:defRPr sz="1200">
                <a:solidFill>
                  <a:srgbClr val="1B1F2A"/>
                </a:solidFill>
              </a:defRPr>
            </a:pPr>
          </a:p>
        </c:txPr>
        <c:crossAx val="-2113994440"/>
        <c:crosses val="autoZero"/>
        <c:auto val="1"/>
        <c:lblAlgn val="ctr"/>
        <c:lblOffset val="100"/>
        <c:noMultiLvlLbl val="0"/>
      </c:catAx>
      <c:valAx>
        <c:axId val="-2113994440"/>
        <c:scaling>
          <c:max val="3500.0"/>
          <c:min val="0.0"/>
        </c:scaling>
        <c:delete/>
        <c:axPos val="l"/>
        <c:majorTickMark val="out"/>
        <c:minorTickMark val="none"/>
        <c:tickLblPos val="nextTo"/>
        <c:spPr>
          <a:ln>
            <a:noFill/>
          </a:ln>
        </c:spPr>
        <c:txPr>
          <a:bodyPr/>
          <a:lstStyle/>
          <a:p>
            <a:pPr>
              <a:defRPr sz="1100">
                <a:solidFill>
                  <a:srgbClr val="5B6475"/>
                </a:solidFill>
              </a:defRPr>
            </a:pPr>
          </a:p>
        </c:txPr>
        <c:crossAx val="-2068027336"/>
        <c:crosses val="autoZero"/>
      </c:valAx>
    </c:plotArea>
    <c:dispBlanksAs val="gap"/>
  </c:chart>
  <c:txPr>
    <a:bodyPr/>
    <a:lstStyle/>
    <a:p>
      <a:pPr>
        <a:defRPr sz="1200">
          <a:solidFill>
            <a:srgbClr val="5B6475"/>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Objectif de la séance : présenter l'état des effectifs, du turnover et de la performance, et obtenir trois décisions. Durée prévue : 15 à 20 minutes, questions comprises. Les chiffres viennent de 4 tables RH analysées en SQL ; la méthode est détaillée dans le README.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Quatre chiffres à retenir. 1 329 actifs : 1 300 sans départ enregistré plus 29 dont le départ est daté après aujourd'hui (nous les comptons actifs). 23 départs sur 12 mois glissants. Turnover cumulé de 11,4 % : 171 départs réalisés pour 1 500 embauches depuis 2019. Le chiffre en corail est le plus préoccupant : plus aucune évaluation enregistrée depuis octobre 2024.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écarts entre départements existent mais ils sont du même ordre de grandeur que ce que produirait le hasard : tests de permutation, 5 000 tirages, p = 0,89 pour le turnover et p = 0,63 pour le score. Opérations (14,7 %) et Direction Générale (13,8 %) sont en tête du classement cumulé, Ressources Humaines (9,2 %) en bas. Recommandation : ne pas lancer de plan par département sur ces seuls chiffres. Surveiller les départs sur 12 mois glissants (Ventes 5, Informatique 4).</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rythme de départs a presque doublé entre 2023 (32) et 2024 (42) avant de revenir à 22 en 2025. 2026 est incomplet : 21 départs réalisés au 10 octobre. Point à noter : la moitié des départs sont involontaires. Les involontaires partent en moyenne à 2,7 ans d'ancienneté, les volontaires à 2,3 ans. La table de départs ne contient pas de motif : c'est un manque pour comprendre ces départs.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rétention à 12 mois dépasse 97 % pour toutes les cohortes, et à 24 mois elle est d'au moins 95 %. La rétention actuelle est plus faible pour les cohortes anciennes simplement parce qu'elles ont eu plus de temps pour perdre des personnes. Les départs interviennent en moyenne après 2,5 ans de présence, rarement la première année : l'intégration des nouveaux ne semble pas être le problème.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Seuils de segmentation : faible sous 70, moyen de 70 à moins de 78, élevé à partir de 78. Ce sont nos seuils (environ le 20e et le 75e percentile), à ajuster selon la politique RH. 251 employés faibles dont 228 encore actifs, 345 élevés. 52 employés ne sont pas évaluables (moins de 4 évaluations valides) : tous sont déjà partis. Les départements se classent dans un mouchoir de poche : Opérations 74,9 en tête, Marketing 73,8 en queue.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salaire moyen des profils élevés (2 865) est légèrement inférieur à celui des profils faibles (2 985). Ce n'est pas un écart à interpréter finement : le point important est l'absence totale de lien. Le salaire n'est corrélé ni à la performance (-0,01) ni à l'ancienneté (+0,01), et les postes ne se distinguent presque pas (2 870 à 2 971). Il n'y a donc pas de grille visible. Les salaires moyens par département vont de 2 704 (Marketing) à 3 107 (Finance). Les montants sont dans la devise des données sources, non précisée.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 n'existe pas de table de feedback : nous utilisons les évaluations trimestrielles comme indicateur. Toutes les évaluations s'arrêtent au 1er octobre 2024. Soit le cycle d'évaluation s'est interrompu, soit les données n'ont pas été mises à jour : il faut le vérifier auprès des managers. Dans les deux cas, sans évaluation récente il est impossible de piloter la performance ou de justifier une politique de rémunération.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anomalies ne changent pas la conclusion générale, mais elles changent certains chiffres : par exemple, si l'on comptait les 29 départs futurs comme déjà partis, l'effectif actif serait de 1 300 au lieu de 1 329. Les dates de départ de la table des départs contiennent les mêmes dates que celles de la table des employés mais attribuées à d'autres personnes : nous avons retenu la table des employés, cohérente avec les dates d'embauche. Autre point : les postes (Analyste, Finance, Manager, RH, Développeur) sont répartis uniformément dans tous les départements, ce qui n'est pas réaliste.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priorités sont classées par urgence et facilité. La 1 et la 2 sont des prérequis : sans évaluation récente et sans données fiables, les autres sujets ne peuvent pas être pilotés. Sur les départements : nous ne recommandons pas de plan ciblé sur Opérations ou Direction Générale à partir du seul turnover cumulé (écart non significatif). Nous recommandons plutôt des entretiens de départ et le suivi des départs sur 12 mois glissants. Les horizons sont des propositions, pas des engagements issus des données.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trois décisions demandées. Si une seule devait être prise aujourd'hui, ce serait la 1 : relancer les évaluations. Proposition : un point d'étape dans 90 jours pour vérifier l'avancement des évaluations et des travaux sur les données.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de référence pour répondre aux questions sur un département précis. Le tableau complet par département et par cohorte d'embauche (66 lignes) est dans le fichier Q15.csv.</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Pastille"/>
          <p:cNvSpPr/>
          <p:nvPr/>
        </p:nvSpPr>
        <p:spPr>
          <a:xfrm>
            <a:off x="548640" y="548640"/>
            <a:ext cx="822960" cy="822960"/>
          </a:xfrm>
          <a:prstGeom prst="ellipse">
            <a:avLst/>
          </a:prstGeom>
          <a:solidFill>
            <a:srgbClr val="E85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822960" cy="822960"/>
          </a:xfrm>
          <a:prstGeom prst="rect">
            <a:avLst/>
          </a:prstGeom>
          <a:noFill/>
        </p:spPr>
        <p:txBody>
          <a:bodyPr wrap="square" anchor="ctr" lIns="0" rIns="0" tIns="0" bIns="0">
            <a:spAutoFit/>
          </a:bodyPr>
          <a:lstStyle/>
          <a:p>
            <a:pPr algn="ctr"/>
            <a:r>
              <a:rPr sz="2600" b="1" i="0">
                <a:solidFill>
                  <a:srgbClr val="FFFFFF"/>
                </a:solidFill>
                <a:latin typeface="Cambria"/>
              </a:rPr>
              <a:t>RH</a:t>
            </a:r>
          </a:p>
        </p:txBody>
      </p:sp>
      <p:sp>
        <p:nvSpPr>
          <p:cNvPr id="4" name="Titre"/>
          <p:cNvSpPr txBox="1"/>
          <p:nvPr/>
        </p:nvSpPr>
        <p:spPr>
          <a:xfrm>
            <a:off x="548640" y="2148840"/>
            <a:ext cx="10515600" cy="1737360"/>
          </a:xfrm>
          <a:prstGeom prst="rect">
            <a:avLst/>
          </a:prstGeom>
          <a:noFill/>
        </p:spPr>
        <p:txBody>
          <a:bodyPr wrap="square" anchor="t" lIns="0" rIns="0" tIns="0" bIns="0">
            <a:spAutoFit/>
          </a:bodyPr>
          <a:lstStyle/>
          <a:p>
            <a:pPr algn="l"/>
            <a:r>
              <a:rPr sz="4400" b="1" i="0">
                <a:solidFill>
                  <a:srgbClr val="FFFFFF"/>
                </a:solidFill>
                <a:latin typeface="Cambria"/>
              </a:rPr>
              <a:t>Effectifs, turnover et performance :
ce que disent nos données RH</a:t>
            </a:r>
          </a:p>
        </p:txBody>
      </p:sp>
      <p:sp>
        <p:nvSpPr>
          <p:cNvPr id="5" name="TextBox 4"/>
          <p:cNvSpPr txBox="1"/>
          <p:nvPr/>
        </p:nvSpPr>
        <p:spPr>
          <a:xfrm>
            <a:off x="548640" y="4160520"/>
            <a:ext cx="10058400" cy="457200"/>
          </a:xfrm>
          <a:prstGeom prst="rect">
            <a:avLst/>
          </a:prstGeom>
          <a:noFill/>
        </p:spPr>
        <p:txBody>
          <a:bodyPr wrap="square" anchor="t" lIns="0" rIns="0" tIns="0" bIns="0">
            <a:spAutoFit/>
          </a:bodyPr>
          <a:lstStyle/>
          <a:p>
            <a:pPr algn="l"/>
            <a:r>
              <a:rPr sz="2000" b="0" i="0">
                <a:solidFill>
                  <a:srgbClr val="CADCFC"/>
                </a:solidFill>
                <a:latin typeface="Calibri"/>
              </a:rPr>
              <a:t>Présentation à la direction · Projet RH Analytics DataLendo</a:t>
            </a:r>
          </a:p>
        </p:txBody>
      </p:sp>
      <p:sp>
        <p:nvSpPr>
          <p:cNvPr id="6" name="TextBox 5"/>
          <p:cNvSpPr txBox="1"/>
          <p:nvPr/>
        </p:nvSpPr>
        <p:spPr>
          <a:xfrm>
            <a:off x="548640" y="4663440"/>
            <a:ext cx="10058400" cy="365760"/>
          </a:xfrm>
          <a:prstGeom prst="rect">
            <a:avLst/>
          </a:prstGeom>
          <a:noFill/>
        </p:spPr>
        <p:txBody>
          <a:bodyPr wrap="square" anchor="t" lIns="0" rIns="0" tIns="0" bIns="0">
            <a:spAutoFit/>
          </a:bodyPr>
          <a:lstStyle/>
          <a:p>
            <a:pPr algn="l"/>
            <a:r>
              <a:rPr sz="1400" b="0" i="0">
                <a:solidFill>
                  <a:srgbClr val="9FB0CF"/>
                </a:solidFill>
                <a:latin typeface="Calibri"/>
              </a:rPr>
              <a:t>Date de référence : 10 octobre 2026 · 1 500 employés · 10 départements · 200 départs enregistrés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re"/>
          <p:cNvSpPr txBox="1"/>
          <p:nvPr/>
        </p:nvSpPr>
        <p:spPr>
          <a:xfrm>
            <a:off x="548640" y="411480"/>
            <a:ext cx="11064240" cy="1051560"/>
          </a:xfrm>
          <a:prstGeom prst="rect">
            <a:avLst/>
          </a:prstGeom>
          <a:noFill/>
        </p:spPr>
        <p:txBody>
          <a:bodyPr wrap="square" anchor="t" lIns="0" rIns="0" tIns="0" bIns="0">
            <a:spAutoFit/>
          </a:bodyPr>
          <a:lstStyle/>
          <a:p>
            <a:pPr algn="l"/>
            <a:r>
              <a:rPr sz="3000" b="1" i="0">
                <a:solidFill>
                  <a:srgbClr val="14213D"/>
                </a:solidFill>
                <a:latin typeface="Cambria"/>
              </a:rPr>
              <a:t>L'essentiel en quatre chiffres</a:t>
            </a:r>
          </a:p>
        </p:txBody>
      </p:sp>
      <p:sp>
        <p:nvSpPr>
          <p:cNvPr id="3" name="Pied de page"/>
          <p:cNvSpPr txBox="1"/>
          <p:nvPr/>
        </p:nvSpPr>
        <p:spPr>
          <a:xfrm>
            <a:off x="548640" y="6400800"/>
            <a:ext cx="7315200" cy="274320"/>
          </a:xfrm>
          <a:prstGeom prst="rect">
            <a:avLst/>
          </a:prstGeom>
          <a:noFill/>
        </p:spPr>
        <p:txBody>
          <a:bodyPr wrap="square" anchor="t" lIns="0" rIns="0" tIns="0" bIns="0">
            <a:spAutoFit/>
          </a:bodyPr>
          <a:lstStyle/>
          <a:p>
            <a:pPr algn="l"/>
            <a:r>
              <a:rPr sz="1000" b="0" i="0">
                <a:solidFill>
                  <a:srgbClr val="5B6475"/>
                </a:solidFill>
                <a:latin typeface="Calibri"/>
              </a:rPr>
              <a:t>DataLendo · RH Analytics · Octobre 2026</a:t>
            </a:r>
          </a:p>
        </p:txBody>
      </p:sp>
      <p:sp>
        <p:nvSpPr>
          <p:cNvPr id="4" name="Numéro"/>
          <p:cNvSpPr txBox="1"/>
          <p:nvPr/>
        </p:nvSpPr>
        <p:spPr>
          <a:xfrm>
            <a:off x="10698480" y="6400800"/>
            <a:ext cx="941832" cy="274320"/>
          </a:xfrm>
          <a:prstGeom prst="rect">
            <a:avLst/>
          </a:prstGeom>
          <a:noFill/>
        </p:spPr>
        <p:txBody>
          <a:bodyPr wrap="square" anchor="t" lIns="0" rIns="0" tIns="0" bIns="0">
            <a:spAutoFit/>
          </a:bodyPr>
          <a:lstStyle/>
          <a:p>
            <a:pPr algn="r"/>
            <a:r>
              <a:rPr sz="1000" b="0" i="0">
                <a:solidFill>
                  <a:srgbClr val="5B6475"/>
                </a:solidFill>
                <a:latin typeface="Calibri"/>
              </a:rPr>
              <a:t>2 / 12</a:t>
            </a:r>
          </a:p>
        </p:txBody>
      </p:sp>
      <p:sp>
        <p:nvSpPr>
          <p:cNvPr id="5" name="Rounded Rectangle 4"/>
          <p:cNvSpPr/>
          <p:nvPr/>
        </p:nvSpPr>
        <p:spPr>
          <a:xfrm>
            <a:off x="548640" y="1691640"/>
            <a:ext cx="2633472" cy="2651760"/>
          </a:xfrm>
          <a:prstGeom prst="roundRect">
            <a:avLst>
              <a:gd name="adj" fmla="val 6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1874520"/>
            <a:ext cx="2084831" cy="822960"/>
          </a:xfrm>
          <a:prstGeom prst="rect">
            <a:avLst/>
          </a:prstGeom>
          <a:noFill/>
        </p:spPr>
        <p:txBody>
          <a:bodyPr wrap="square" anchor="ctr" lIns="0" rIns="0" tIns="0" bIns="0">
            <a:spAutoFit/>
          </a:bodyPr>
          <a:lstStyle/>
          <a:p>
            <a:pPr algn="l"/>
            <a:r>
              <a:rPr sz="4400" b="1" i="0">
                <a:solidFill>
                  <a:srgbClr val="14213D"/>
                </a:solidFill>
                <a:latin typeface="Cambria"/>
              </a:rPr>
              <a:t>1 329</a:t>
            </a:r>
          </a:p>
        </p:txBody>
      </p:sp>
      <p:sp>
        <p:nvSpPr>
          <p:cNvPr id="7" name="TextBox 6"/>
          <p:cNvSpPr txBox="1"/>
          <p:nvPr/>
        </p:nvSpPr>
        <p:spPr>
          <a:xfrm>
            <a:off x="822959" y="2743200"/>
            <a:ext cx="2084831" cy="1463039"/>
          </a:xfrm>
          <a:prstGeom prst="rect">
            <a:avLst/>
          </a:prstGeom>
          <a:noFill/>
        </p:spPr>
        <p:txBody>
          <a:bodyPr wrap="square" anchor="t" lIns="0" rIns="0" tIns="0" bIns="0">
            <a:spAutoFit/>
          </a:bodyPr>
          <a:lstStyle/>
          <a:p>
            <a:pPr algn="l"/>
            <a:r>
              <a:rPr sz="1500" b="1" i="0">
                <a:solidFill>
                  <a:srgbClr val="1B1F2A"/>
                </a:solidFill>
                <a:latin typeface="Calibri"/>
              </a:rPr>
              <a:t>employés actifs</a:t>
            </a:r>
          </a:p>
          <a:p>
            <a:pPr algn="l"/>
            <a:r>
              <a:rPr sz="1300" b="0" i="0">
                <a:solidFill>
                  <a:srgbClr val="5B6475"/>
                </a:solidFill>
                <a:latin typeface="Calibri"/>
              </a:rPr>
              <a:t>dont 29 avec un départ planifié</a:t>
            </a:r>
          </a:p>
        </p:txBody>
      </p:sp>
      <p:sp>
        <p:nvSpPr>
          <p:cNvPr id="8" name="Rounded Rectangle 7"/>
          <p:cNvSpPr/>
          <p:nvPr/>
        </p:nvSpPr>
        <p:spPr>
          <a:xfrm>
            <a:off x="3364992" y="1691640"/>
            <a:ext cx="2633472" cy="2651760"/>
          </a:xfrm>
          <a:prstGeom prst="roundRect">
            <a:avLst>
              <a:gd name="adj" fmla="val 6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39312" y="1874520"/>
            <a:ext cx="2084831" cy="822960"/>
          </a:xfrm>
          <a:prstGeom prst="rect">
            <a:avLst/>
          </a:prstGeom>
          <a:noFill/>
        </p:spPr>
        <p:txBody>
          <a:bodyPr wrap="square" anchor="ctr" lIns="0" rIns="0" tIns="0" bIns="0">
            <a:spAutoFit/>
          </a:bodyPr>
          <a:lstStyle/>
          <a:p>
            <a:pPr algn="l"/>
            <a:r>
              <a:rPr sz="4400" b="1" i="0">
                <a:solidFill>
                  <a:srgbClr val="14213D"/>
                </a:solidFill>
                <a:latin typeface="Cambria"/>
              </a:rPr>
              <a:t>23</a:t>
            </a:r>
          </a:p>
        </p:txBody>
      </p:sp>
      <p:sp>
        <p:nvSpPr>
          <p:cNvPr id="10" name="TextBox 9"/>
          <p:cNvSpPr txBox="1"/>
          <p:nvPr/>
        </p:nvSpPr>
        <p:spPr>
          <a:xfrm>
            <a:off x="3639312" y="2743200"/>
            <a:ext cx="2084831" cy="1463039"/>
          </a:xfrm>
          <a:prstGeom prst="rect">
            <a:avLst/>
          </a:prstGeom>
          <a:noFill/>
        </p:spPr>
        <p:txBody>
          <a:bodyPr wrap="square" anchor="t" lIns="0" rIns="0" tIns="0" bIns="0">
            <a:spAutoFit/>
          </a:bodyPr>
          <a:lstStyle/>
          <a:p>
            <a:pPr algn="l"/>
            <a:r>
              <a:rPr sz="1500" b="1" i="0">
                <a:solidFill>
                  <a:srgbClr val="1B1F2A"/>
                </a:solidFill>
                <a:latin typeface="Calibri"/>
              </a:rPr>
              <a:t>départs sur 12 mois</a:t>
            </a:r>
          </a:p>
          <a:p>
            <a:pPr algn="l"/>
            <a:r>
              <a:rPr sz="1300" b="0" i="0">
                <a:solidFill>
                  <a:srgbClr val="5B6475"/>
                </a:solidFill>
                <a:latin typeface="Calibri"/>
              </a:rPr>
              <a:t>8 volontaires · 15 involontaires</a:t>
            </a:r>
          </a:p>
        </p:txBody>
      </p:sp>
      <p:sp>
        <p:nvSpPr>
          <p:cNvPr id="11" name="Rounded Rectangle 10"/>
          <p:cNvSpPr/>
          <p:nvPr/>
        </p:nvSpPr>
        <p:spPr>
          <a:xfrm>
            <a:off x="6181344" y="1691640"/>
            <a:ext cx="2633472" cy="2651760"/>
          </a:xfrm>
          <a:prstGeom prst="roundRect">
            <a:avLst>
              <a:gd name="adj" fmla="val 6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55664" y="1874520"/>
            <a:ext cx="2084831" cy="822960"/>
          </a:xfrm>
          <a:prstGeom prst="rect">
            <a:avLst/>
          </a:prstGeom>
          <a:noFill/>
        </p:spPr>
        <p:txBody>
          <a:bodyPr wrap="square" anchor="ctr" lIns="0" rIns="0" tIns="0" bIns="0">
            <a:spAutoFit/>
          </a:bodyPr>
          <a:lstStyle/>
          <a:p>
            <a:pPr algn="l"/>
            <a:r>
              <a:rPr sz="4400" b="1" i="0">
                <a:solidFill>
                  <a:srgbClr val="14213D"/>
                </a:solidFill>
                <a:latin typeface="Cambria"/>
              </a:rPr>
              <a:t>11,4 %</a:t>
            </a:r>
          </a:p>
        </p:txBody>
      </p:sp>
      <p:sp>
        <p:nvSpPr>
          <p:cNvPr id="13" name="TextBox 12"/>
          <p:cNvSpPr txBox="1"/>
          <p:nvPr/>
        </p:nvSpPr>
        <p:spPr>
          <a:xfrm>
            <a:off x="6455664" y="2743200"/>
            <a:ext cx="2084831" cy="1463039"/>
          </a:xfrm>
          <a:prstGeom prst="rect">
            <a:avLst/>
          </a:prstGeom>
          <a:noFill/>
        </p:spPr>
        <p:txBody>
          <a:bodyPr wrap="square" anchor="t" lIns="0" rIns="0" tIns="0" bIns="0">
            <a:spAutoFit/>
          </a:bodyPr>
          <a:lstStyle/>
          <a:p>
            <a:pPr algn="l"/>
            <a:r>
              <a:rPr sz="1500" b="1" i="0">
                <a:solidFill>
                  <a:srgbClr val="1B1F2A"/>
                </a:solidFill>
                <a:latin typeface="Calibri"/>
              </a:rPr>
              <a:t>turnover cumulé</a:t>
            </a:r>
          </a:p>
          <a:p>
            <a:pPr algn="l"/>
            <a:r>
              <a:rPr sz="1300" b="0" i="0">
                <a:solidFill>
                  <a:srgbClr val="5B6475"/>
                </a:solidFill>
                <a:latin typeface="Calibri"/>
              </a:rPr>
              <a:t>171 départs depuis 2019</a:t>
            </a:r>
          </a:p>
        </p:txBody>
      </p:sp>
      <p:sp>
        <p:nvSpPr>
          <p:cNvPr id="14" name="Rounded Rectangle 13"/>
          <p:cNvSpPr/>
          <p:nvPr/>
        </p:nvSpPr>
        <p:spPr>
          <a:xfrm>
            <a:off x="8997696" y="1691640"/>
            <a:ext cx="2633472" cy="2651760"/>
          </a:xfrm>
          <a:prstGeom prst="roundRect">
            <a:avLst>
              <a:gd name="adj" fmla="val 6000"/>
            </a:avLst>
          </a:prstGeom>
          <a:solidFill>
            <a:srgbClr val="FDE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72016" y="1874520"/>
            <a:ext cx="2084831" cy="822960"/>
          </a:xfrm>
          <a:prstGeom prst="rect">
            <a:avLst/>
          </a:prstGeom>
          <a:noFill/>
        </p:spPr>
        <p:txBody>
          <a:bodyPr wrap="square" anchor="ctr" lIns="0" rIns="0" tIns="0" bIns="0">
            <a:spAutoFit/>
          </a:bodyPr>
          <a:lstStyle/>
          <a:p>
            <a:pPr algn="l"/>
            <a:r>
              <a:rPr sz="4400" b="1" i="0">
                <a:solidFill>
                  <a:srgbClr val="E8553A"/>
                </a:solidFill>
                <a:latin typeface="Cambria"/>
              </a:rPr>
              <a:t>739</a:t>
            </a:r>
          </a:p>
        </p:txBody>
      </p:sp>
      <p:sp>
        <p:nvSpPr>
          <p:cNvPr id="16" name="TextBox 15"/>
          <p:cNvSpPr txBox="1"/>
          <p:nvPr/>
        </p:nvSpPr>
        <p:spPr>
          <a:xfrm>
            <a:off x="9272016" y="2743200"/>
            <a:ext cx="2084831" cy="1463039"/>
          </a:xfrm>
          <a:prstGeom prst="rect">
            <a:avLst/>
          </a:prstGeom>
          <a:noFill/>
        </p:spPr>
        <p:txBody>
          <a:bodyPr wrap="square" anchor="t" lIns="0" rIns="0" tIns="0" bIns="0">
            <a:spAutoFit/>
          </a:bodyPr>
          <a:lstStyle/>
          <a:p>
            <a:pPr algn="l"/>
            <a:r>
              <a:rPr sz="1500" b="1" i="0">
                <a:solidFill>
                  <a:srgbClr val="1B1F2A"/>
                </a:solidFill>
                <a:latin typeface="Calibri"/>
              </a:rPr>
              <a:t>jours sans feedback enregistré</a:t>
            </a:r>
          </a:p>
          <a:p>
            <a:pPr algn="l"/>
            <a:r>
              <a:rPr sz="1300" b="0" i="0">
                <a:solidFill>
                  <a:srgbClr val="5B6475"/>
                </a:solidFill>
                <a:latin typeface="Calibri"/>
              </a:rPr>
              <a:t>dernière évaluation : 1er oct. 2024</a:t>
            </a:r>
          </a:p>
        </p:txBody>
      </p:sp>
      <p:sp>
        <p:nvSpPr>
          <p:cNvPr id="17" name="Rounded Rectangle 16"/>
          <p:cNvSpPr/>
          <p:nvPr/>
        </p:nvSpPr>
        <p:spPr>
          <a:xfrm>
            <a:off x="548640" y="4663440"/>
            <a:ext cx="11091672" cy="1188720"/>
          </a:xfrm>
          <a:prstGeom prst="roundRect">
            <a:avLst>
              <a:gd name="adj" fmla="val 6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663440"/>
            <a:ext cx="10515600" cy="1188720"/>
          </a:xfrm>
          <a:prstGeom prst="rect">
            <a:avLst/>
          </a:prstGeom>
          <a:noFill/>
        </p:spPr>
        <p:txBody>
          <a:bodyPr wrap="square" anchor="ctr" lIns="0" rIns="0" tIns="0" bIns="0">
            <a:spAutoFit/>
          </a:bodyPr>
          <a:lstStyle/>
          <a:p>
            <a:pPr algn="l"/>
            <a:r>
              <a:rPr sz="1800" b="1" i="0">
                <a:solidFill>
                  <a:srgbClr val="FFB4A3"/>
                </a:solidFill>
                <a:latin typeface="Calibri"/>
              </a:rPr>
              <a:t>Message clé  </a:t>
            </a:r>
            <a:r>
              <a:rPr sz="1800" b="0" i="0">
                <a:solidFill>
                  <a:srgbClr val="FFFFFF"/>
                </a:solidFill>
                <a:latin typeface="Calibri"/>
              </a:rPr>
              <a:t>Aucun département ne se détache vraiment. Les enjeux sont transverses : relancer le feedback, relier salaire et performance, fiabiliser les données.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re"/>
          <p:cNvSpPr txBox="1"/>
          <p:nvPr/>
        </p:nvSpPr>
        <p:spPr>
          <a:xfrm>
            <a:off x="548640" y="411480"/>
            <a:ext cx="11064240" cy="1051560"/>
          </a:xfrm>
          <a:prstGeom prst="rect">
            <a:avLst/>
          </a:prstGeom>
          <a:noFill/>
        </p:spPr>
        <p:txBody>
          <a:bodyPr wrap="square" anchor="t" lIns="0" rIns="0" tIns="0" bIns="0">
            <a:spAutoFit/>
          </a:bodyPr>
          <a:lstStyle/>
          <a:p>
            <a:pPr algn="l"/>
            <a:r>
              <a:rPr sz="3000" b="1" i="0">
                <a:solidFill>
                  <a:srgbClr val="14213D"/>
                </a:solidFill>
                <a:latin typeface="Cambria"/>
              </a:rPr>
              <a:t>Aucun département ne se distingue vraiment</a:t>
            </a:r>
          </a:p>
        </p:txBody>
      </p:sp>
      <p:sp>
        <p:nvSpPr>
          <p:cNvPr id="3" name="Pied de page"/>
          <p:cNvSpPr txBox="1"/>
          <p:nvPr/>
        </p:nvSpPr>
        <p:spPr>
          <a:xfrm>
            <a:off x="548640" y="6400800"/>
            <a:ext cx="7315200" cy="274320"/>
          </a:xfrm>
          <a:prstGeom prst="rect">
            <a:avLst/>
          </a:prstGeom>
          <a:noFill/>
        </p:spPr>
        <p:txBody>
          <a:bodyPr wrap="square" anchor="t" lIns="0" rIns="0" tIns="0" bIns="0">
            <a:spAutoFit/>
          </a:bodyPr>
          <a:lstStyle/>
          <a:p>
            <a:pPr algn="l"/>
            <a:r>
              <a:rPr sz="1000" b="0" i="0">
                <a:solidFill>
                  <a:srgbClr val="5B6475"/>
                </a:solidFill>
                <a:latin typeface="Calibri"/>
              </a:rPr>
              <a:t>DataLendo · RH Analytics · Octobre 2026</a:t>
            </a:r>
          </a:p>
        </p:txBody>
      </p:sp>
      <p:sp>
        <p:nvSpPr>
          <p:cNvPr id="4" name="Numéro"/>
          <p:cNvSpPr txBox="1"/>
          <p:nvPr/>
        </p:nvSpPr>
        <p:spPr>
          <a:xfrm>
            <a:off x="10698480" y="6400800"/>
            <a:ext cx="941832" cy="274320"/>
          </a:xfrm>
          <a:prstGeom prst="rect">
            <a:avLst/>
          </a:prstGeom>
          <a:noFill/>
        </p:spPr>
        <p:txBody>
          <a:bodyPr wrap="square" anchor="t" lIns="0" rIns="0" tIns="0" bIns="0">
            <a:spAutoFit/>
          </a:bodyPr>
          <a:lstStyle/>
          <a:p>
            <a:pPr algn="r"/>
            <a:r>
              <a:rPr sz="1000" b="0" i="0">
                <a:solidFill>
                  <a:srgbClr val="5B6475"/>
                </a:solidFill>
                <a:latin typeface="Calibri"/>
              </a:rPr>
              <a:t>3 / 12</a:t>
            </a:r>
          </a:p>
        </p:txBody>
      </p:sp>
      <p:graphicFrame>
        <p:nvGraphicFramePr>
          <p:cNvPr id="5" name="Turnover par département"/>
          <p:cNvGraphicFramePr>
            <a:graphicFrameLocks noGrp="1"/>
          </p:cNvGraphicFramePr>
          <p:nvPr/>
        </p:nvGraphicFramePr>
        <p:xfrm>
          <a:off x="548640" y="1554480"/>
          <a:ext cx="6766560" cy="4572000"/>
        </p:xfrm>
        <a:graphic>
          <a:graphicData uri="http://schemas.openxmlformats.org/drawingml/2006/chart">
            <c:chart xmlns:c="http://schemas.openxmlformats.org/drawingml/2006/chart" r:id="rId2"/>
          </a:graphicData>
        </a:graphic>
      </p:graphicFrame>
      <p:sp>
        <p:nvSpPr>
          <p:cNvPr id="6" name="TextBox 5"/>
          <p:cNvSpPr txBox="1"/>
          <p:nvPr/>
        </p:nvSpPr>
        <p:spPr>
          <a:xfrm>
            <a:off x="548640" y="1371600"/>
            <a:ext cx="6766560" cy="274320"/>
          </a:xfrm>
          <a:prstGeom prst="rect">
            <a:avLst/>
          </a:prstGeom>
          <a:noFill/>
        </p:spPr>
        <p:txBody>
          <a:bodyPr wrap="square" anchor="t" lIns="0" rIns="0" tIns="0" bIns="0">
            <a:spAutoFit/>
          </a:bodyPr>
          <a:lstStyle/>
          <a:p>
            <a:pPr algn="l"/>
            <a:r>
              <a:rPr sz="1200" b="0" i="0">
                <a:solidFill>
                  <a:srgbClr val="5B6475"/>
                </a:solidFill>
                <a:latin typeface="Calibri"/>
              </a:rPr>
              <a:t>Turnover cumulé par département (départs réalisés / employés embauchés)</a:t>
            </a:r>
          </a:p>
        </p:txBody>
      </p:sp>
      <p:sp>
        <p:nvSpPr>
          <p:cNvPr id="7" name="Rounded Rectangle 6"/>
          <p:cNvSpPr/>
          <p:nvPr/>
        </p:nvSpPr>
        <p:spPr>
          <a:xfrm>
            <a:off x="7680960" y="1554480"/>
            <a:ext cx="3959352" cy="2148840"/>
          </a:xfrm>
          <a:prstGeom prst="roundRect">
            <a:avLst>
              <a:gd name="adj" fmla="val 6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0" y="1737360"/>
            <a:ext cx="3410712" cy="822960"/>
          </a:xfrm>
          <a:prstGeom prst="rect">
            <a:avLst/>
          </a:prstGeom>
          <a:noFill/>
        </p:spPr>
        <p:txBody>
          <a:bodyPr wrap="square" anchor="ctr" lIns="0" rIns="0" tIns="0" bIns="0">
            <a:spAutoFit/>
          </a:bodyPr>
          <a:lstStyle/>
          <a:p>
            <a:pPr algn="l"/>
            <a:r>
              <a:rPr sz="3200" b="1" i="0">
                <a:solidFill>
                  <a:srgbClr val="14213D"/>
                </a:solidFill>
                <a:latin typeface="Cambria"/>
              </a:rPr>
              <a:t>9,2 % → 14,7 %</a:t>
            </a:r>
          </a:p>
        </p:txBody>
      </p:sp>
      <p:sp>
        <p:nvSpPr>
          <p:cNvPr id="9" name="TextBox 8"/>
          <p:cNvSpPr txBox="1"/>
          <p:nvPr/>
        </p:nvSpPr>
        <p:spPr>
          <a:xfrm>
            <a:off x="7955280" y="2606039"/>
            <a:ext cx="3410712" cy="960120"/>
          </a:xfrm>
          <a:prstGeom prst="rect">
            <a:avLst/>
          </a:prstGeom>
          <a:noFill/>
        </p:spPr>
        <p:txBody>
          <a:bodyPr wrap="square" anchor="t" lIns="0" rIns="0" tIns="0" bIns="0">
            <a:spAutoFit/>
          </a:bodyPr>
          <a:lstStyle/>
          <a:p>
            <a:pPr algn="l"/>
            <a:r>
              <a:rPr sz="1500" b="1" i="0">
                <a:solidFill>
                  <a:srgbClr val="1B1F2A"/>
                </a:solidFill>
                <a:latin typeface="Calibri"/>
              </a:rPr>
              <a:t>écart de turnover</a:t>
            </a:r>
          </a:p>
          <a:p>
            <a:pPr algn="l"/>
            <a:r>
              <a:rPr sz="1300" b="0" i="0">
                <a:solidFill>
                  <a:srgbClr val="5B6475"/>
                </a:solidFill>
                <a:latin typeface="Calibri"/>
              </a:rPr>
              <a:t>p = 0,89 : compatible avec le hasard</a:t>
            </a:r>
          </a:p>
        </p:txBody>
      </p:sp>
      <p:sp>
        <p:nvSpPr>
          <p:cNvPr id="10" name="Rounded Rectangle 9"/>
          <p:cNvSpPr/>
          <p:nvPr/>
        </p:nvSpPr>
        <p:spPr>
          <a:xfrm>
            <a:off x="7680960" y="3886200"/>
            <a:ext cx="3959352" cy="2148840"/>
          </a:xfrm>
          <a:prstGeom prst="roundRect">
            <a:avLst>
              <a:gd name="adj" fmla="val 6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0" y="4069080"/>
            <a:ext cx="3410712" cy="822960"/>
          </a:xfrm>
          <a:prstGeom prst="rect">
            <a:avLst/>
          </a:prstGeom>
          <a:noFill/>
        </p:spPr>
        <p:txBody>
          <a:bodyPr wrap="square" anchor="ctr" lIns="0" rIns="0" tIns="0" bIns="0">
            <a:spAutoFit/>
          </a:bodyPr>
          <a:lstStyle/>
          <a:p>
            <a:pPr algn="l"/>
            <a:r>
              <a:rPr sz="3200" b="1" i="0">
                <a:solidFill>
                  <a:srgbClr val="14213D"/>
                </a:solidFill>
                <a:latin typeface="Cambria"/>
              </a:rPr>
              <a:t>73,8 → 74,9</a:t>
            </a:r>
          </a:p>
        </p:txBody>
      </p:sp>
      <p:sp>
        <p:nvSpPr>
          <p:cNvPr id="12" name="TextBox 11"/>
          <p:cNvSpPr txBox="1"/>
          <p:nvPr/>
        </p:nvSpPr>
        <p:spPr>
          <a:xfrm>
            <a:off x="7955280" y="4937760"/>
            <a:ext cx="3410712" cy="960120"/>
          </a:xfrm>
          <a:prstGeom prst="rect">
            <a:avLst/>
          </a:prstGeom>
          <a:noFill/>
        </p:spPr>
        <p:txBody>
          <a:bodyPr wrap="square" anchor="t" lIns="0" rIns="0" tIns="0" bIns="0">
            <a:spAutoFit/>
          </a:bodyPr>
          <a:lstStyle/>
          <a:p>
            <a:pPr algn="l"/>
            <a:r>
              <a:rPr sz="1500" b="1" i="0">
                <a:solidFill>
                  <a:srgbClr val="1B1F2A"/>
                </a:solidFill>
                <a:latin typeface="Calibri"/>
              </a:rPr>
              <a:t>écart de score moyen (/100)</a:t>
            </a:r>
          </a:p>
          <a:p>
            <a:pPr algn="l"/>
            <a:r>
              <a:rPr sz="1300" b="0" i="0">
                <a:solidFill>
                  <a:srgbClr val="5B6475"/>
                </a:solidFill>
                <a:latin typeface="Calibri"/>
              </a:rPr>
              <a:t>p = 0,63 : pas de différence significative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re"/>
          <p:cNvSpPr txBox="1"/>
          <p:nvPr/>
        </p:nvSpPr>
        <p:spPr>
          <a:xfrm>
            <a:off x="548640" y="411480"/>
            <a:ext cx="11064240" cy="1051560"/>
          </a:xfrm>
          <a:prstGeom prst="rect">
            <a:avLst/>
          </a:prstGeom>
          <a:noFill/>
        </p:spPr>
        <p:txBody>
          <a:bodyPr wrap="square" anchor="t" lIns="0" rIns="0" tIns="0" bIns="0">
            <a:spAutoFit/>
          </a:bodyPr>
          <a:lstStyle/>
          <a:p>
            <a:pPr algn="l"/>
            <a:r>
              <a:rPr sz="3000" b="1" i="0">
                <a:solidFill>
                  <a:srgbClr val="14213D"/>
                </a:solidFill>
                <a:latin typeface="Cambria"/>
              </a:rPr>
              <a:t>Les départs ont culminé en 2024, puis sont retombés</a:t>
            </a:r>
          </a:p>
        </p:txBody>
      </p:sp>
      <p:sp>
        <p:nvSpPr>
          <p:cNvPr id="3" name="Pied de page"/>
          <p:cNvSpPr txBox="1"/>
          <p:nvPr/>
        </p:nvSpPr>
        <p:spPr>
          <a:xfrm>
            <a:off x="548640" y="6400800"/>
            <a:ext cx="7315200" cy="274320"/>
          </a:xfrm>
          <a:prstGeom prst="rect">
            <a:avLst/>
          </a:prstGeom>
          <a:noFill/>
        </p:spPr>
        <p:txBody>
          <a:bodyPr wrap="square" anchor="t" lIns="0" rIns="0" tIns="0" bIns="0">
            <a:spAutoFit/>
          </a:bodyPr>
          <a:lstStyle/>
          <a:p>
            <a:pPr algn="l"/>
            <a:r>
              <a:rPr sz="1000" b="0" i="0">
                <a:solidFill>
                  <a:srgbClr val="5B6475"/>
                </a:solidFill>
                <a:latin typeface="Calibri"/>
              </a:rPr>
              <a:t>DataLendo · RH Analytics · Octobre 2026</a:t>
            </a:r>
          </a:p>
        </p:txBody>
      </p:sp>
      <p:sp>
        <p:nvSpPr>
          <p:cNvPr id="4" name="Numéro"/>
          <p:cNvSpPr txBox="1"/>
          <p:nvPr/>
        </p:nvSpPr>
        <p:spPr>
          <a:xfrm>
            <a:off x="10698480" y="6400800"/>
            <a:ext cx="941832" cy="274320"/>
          </a:xfrm>
          <a:prstGeom prst="rect">
            <a:avLst/>
          </a:prstGeom>
          <a:noFill/>
        </p:spPr>
        <p:txBody>
          <a:bodyPr wrap="square" anchor="t" lIns="0" rIns="0" tIns="0" bIns="0">
            <a:spAutoFit/>
          </a:bodyPr>
          <a:lstStyle/>
          <a:p>
            <a:pPr algn="r"/>
            <a:r>
              <a:rPr sz="1000" b="0" i="0">
                <a:solidFill>
                  <a:srgbClr val="5B6475"/>
                </a:solidFill>
                <a:latin typeface="Calibri"/>
              </a:rPr>
              <a:t>4 / 12</a:t>
            </a:r>
          </a:p>
        </p:txBody>
      </p:sp>
      <p:graphicFrame>
        <p:nvGraphicFramePr>
          <p:cNvPr id="5" name="Départs par année"/>
          <p:cNvGraphicFramePr>
            <a:graphicFrameLocks noGrp="1"/>
          </p:cNvGraphicFramePr>
          <p:nvPr/>
        </p:nvGraphicFramePr>
        <p:xfrm>
          <a:off x="548640" y="1554480"/>
          <a:ext cx="7223760" cy="4480560"/>
        </p:xfrm>
        <a:graphic>
          <a:graphicData uri="http://schemas.openxmlformats.org/drawingml/2006/chart">
            <c:chart xmlns:c="http://schemas.openxmlformats.org/drawingml/2006/chart" r:id="rId2"/>
          </a:graphicData>
        </a:graphic>
      </p:graphicFrame>
      <p:sp>
        <p:nvSpPr>
          <p:cNvPr id="6" name="TextBox 5"/>
          <p:cNvSpPr txBox="1"/>
          <p:nvPr/>
        </p:nvSpPr>
        <p:spPr>
          <a:xfrm>
            <a:off x="548640" y="1371600"/>
            <a:ext cx="7223760" cy="274320"/>
          </a:xfrm>
          <a:prstGeom prst="rect">
            <a:avLst/>
          </a:prstGeom>
          <a:noFill/>
        </p:spPr>
        <p:txBody>
          <a:bodyPr wrap="square" anchor="t" lIns="0" rIns="0" tIns="0" bIns="0">
            <a:spAutoFit/>
          </a:bodyPr>
          <a:lstStyle/>
          <a:p>
            <a:pPr algn="l"/>
            <a:r>
              <a:rPr sz="1200" b="0" i="0">
                <a:solidFill>
                  <a:srgbClr val="5B6475"/>
                </a:solidFill>
                <a:latin typeface="Calibri"/>
              </a:rPr>
              <a:t>Départs réalisés par année · *2026 : jusqu'au 10 octobre</a:t>
            </a:r>
          </a:p>
        </p:txBody>
      </p:sp>
      <p:sp>
        <p:nvSpPr>
          <p:cNvPr id="7" name="Rounded Rectangle 6"/>
          <p:cNvSpPr/>
          <p:nvPr/>
        </p:nvSpPr>
        <p:spPr>
          <a:xfrm>
            <a:off x="8138160" y="1554480"/>
            <a:ext cx="3502152" cy="2148840"/>
          </a:xfrm>
          <a:prstGeom prst="roundRect">
            <a:avLst>
              <a:gd name="adj" fmla="val 6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0" y="1737360"/>
            <a:ext cx="2953512" cy="822960"/>
          </a:xfrm>
          <a:prstGeom prst="rect">
            <a:avLst/>
          </a:prstGeom>
          <a:noFill/>
        </p:spPr>
        <p:txBody>
          <a:bodyPr wrap="square" anchor="ctr" lIns="0" rIns="0" tIns="0" bIns="0">
            <a:spAutoFit/>
          </a:bodyPr>
          <a:lstStyle/>
          <a:p>
            <a:pPr algn="l"/>
            <a:r>
              <a:rPr sz="4800" b="1" i="0">
                <a:solidFill>
                  <a:srgbClr val="14213D"/>
                </a:solidFill>
                <a:latin typeface="Cambria"/>
              </a:rPr>
              <a:t>42</a:t>
            </a:r>
          </a:p>
        </p:txBody>
      </p:sp>
      <p:sp>
        <p:nvSpPr>
          <p:cNvPr id="9" name="TextBox 8"/>
          <p:cNvSpPr txBox="1"/>
          <p:nvPr/>
        </p:nvSpPr>
        <p:spPr>
          <a:xfrm>
            <a:off x="8412480" y="2606039"/>
            <a:ext cx="2953512" cy="960120"/>
          </a:xfrm>
          <a:prstGeom prst="rect">
            <a:avLst/>
          </a:prstGeom>
          <a:noFill/>
        </p:spPr>
        <p:txBody>
          <a:bodyPr wrap="square" anchor="t" lIns="0" rIns="0" tIns="0" bIns="0">
            <a:spAutoFit/>
          </a:bodyPr>
          <a:lstStyle/>
          <a:p>
            <a:pPr algn="l"/>
            <a:r>
              <a:rPr sz="1500" b="1" i="0">
                <a:solidFill>
                  <a:srgbClr val="1B1F2A"/>
                </a:solidFill>
                <a:latin typeface="Calibri"/>
              </a:rPr>
              <a:t>départs en 2024</a:t>
            </a:r>
          </a:p>
          <a:p>
            <a:pPr algn="l"/>
            <a:r>
              <a:rPr sz="1300" b="0" i="0">
                <a:solidFill>
                  <a:srgbClr val="5B6475"/>
                </a:solidFill>
                <a:latin typeface="Calibri"/>
              </a:rPr>
              <a:t>le pic ; 22 en 2025 et 21 en 2026 à ce jour</a:t>
            </a:r>
          </a:p>
        </p:txBody>
      </p:sp>
      <p:sp>
        <p:nvSpPr>
          <p:cNvPr id="10" name="Rounded Rectangle 9"/>
          <p:cNvSpPr/>
          <p:nvPr/>
        </p:nvSpPr>
        <p:spPr>
          <a:xfrm>
            <a:off x="8138160" y="3886200"/>
            <a:ext cx="3502152" cy="2148840"/>
          </a:xfrm>
          <a:prstGeom prst="roundRect">
            <a:avLst>
              <a:gd name="adj" fmla="val 6000"/>
            </a:avLst>
          </a:prstGeom>
          <a:solidFill>
            <a:srgbClr val="FDE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0" y="4069080"/>
            <a:ext cx="2953512" cy="822960"/>
          </a:xfrm>
          <a:prstGeom prst="rect">
            <a:avLst/>
          </a:prstGeom>
          <a:noFill/>
        </p:spPr>
        <p:txBody>
          <a:bodyPr wrap="square" anchor="ctr" lIns="0" rIns="0" tIns="0" bIns="0">
            <a:spAutoFit/>
          </a:bodyPr>
          <a:lstStyle/>
          <a:p>
            <a:pPr algn="l"/>
            <a:r>
              <a:rPr sz="4000" b="1" i="0">
                <a:solidFill>
                  <a:srgbClr val="E8553A"/>
                </a:solidFill>
                <a:latin typeface="Cambria"/>
              </a:rPr>
              <a:t>50 / 50</a:t>
            </a:r>
          </a:p>
        </p:txBody>
      </p:sp>
      <p:sp>
        <p:nvSpPr>
          <p:cNvPr id="12" name="TextBox 11"/>
          <p:cNvSpPr txBox="1"/>
          <p:nvPr/>
        </p:nvSpPr>
        <p:spPr>
          <a:xfrm>
            <a:off x="8412480" y="4937760"/>
            <a:ext cx="2953512" cy="960120"/>
          </a:xfrm>
          <a:prstGeom prst="rect">
            <a:avLst/>
          </a:prstGeom>
          <a:noFill/>
        </p:spPr>
        <p:txBody>
          <a:bodyPr wrap="square" anchor="t" lIns="0" rIns="0" tIns="0" bIns="0">
            <a:spAutoFit/>
          </a:bodyPr>
          <a:lstStyle/>
          <a:p>
            <a:pPr algn="l"/>
            <a:r>
              <a:rPr sz="1500" b="1" i="0">
                <a:solidFill>
                  <a:srgbClr val="1B1F2A"/>
                </a:solidFill>
                <a:latin typeface="Calibri"/>
              </a:rPr>
              <a:t>volontaires / involontaires</a:t>
            </a:r>
          </a:p>
          <a:p>
            <a:pPr algn="l"/>
            <a:r>
              <a:rPr sz="1300" b="0" i="0">
                <a:solidFill>
                  <a:srgbClr val="5B6475"/>
                </a:solidFill>
                <a:latin typeface="Calibri"/>
              </a:rPr>
              <a:t>85 contre 86 départs réalisés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re"/>
          <p:cNvSpPr txBox="1"/>
          <p:nvPr/>
        </p:nvSpPr>
        <p:spPr>
          <a:xfrm>
            <a:off x="548640" y="411480"/>
            <a:ext cx="11064240" cy="1051560"/>
          </a:xfrm>
          <a:prstGeom prst="rect">
            <a:avLst/>
          </a:prstGeom>
          <a:noFill/>
        </p:spPr>
        <p:txBody>
          <a:bodyPr wrap="square" anchor="t" lIns="0" rIns="0" tIns="0" bIns="0">
            <a:spAutoFit/>
          </a:bodyPr>
          <a:lstStyle/>
          <a:p>
            <a:pPr algn="l"/>
            <a:r>
              <a:rPr sz="3000" b="1" i="0">
                <a:solidFill>
                  <a:srgbClr val="14213D"/>
                </a:solidFill>
                <a:latin typeface="Cambria"/>
              </a:rPr>
              <a:t>Les nouvelles recrues restent : 98 % à 12 mois</a:t>
            </a:r>
          </a:p>
        </p:txBody>
      </p:sp>
      <p:sp>
        <p:nvSpPr>
          <p:cNvPr id="3" name="Pied de page"/>
          <p:cNvSpPr txBox="1"/>
          <p:nvPr/>
        </p:nvSpPr>
        <p:spPr>
          <a:xfrm>
            <a:off x="548640" y="6400800"/>
            <a:ext cx="7315200" cy="274320"/>
          </a:xfrm>
          <a:prstGeom prst="rect">
            <a:avLst/>
          </a:prstGeom>
          <a:noFill/>
        </p:spPr>
        <p:txBody>
          <a:bodyPr wrap="square" anchor="t" lIns="0" rIns="0" tIns="0" bIns="0">
            <a:spAutoFit/>
          </a:bodyPr>
          <a:lstStyle/>
          <a:p>
            <a:pPr algn="l"/>
            <a:r>
              <a:rPr sz="1000" b="0" i="0">
                <a:solidFill>
                  <a:srgbClr val="5B6475"/>
                </a:solidFill>
                <a:latin typeface="Calibri"/>
              </a:rPr>
              <a:t>DataLendo · RH Analytics · Octobre 2026</a:t>
            </a:r>
          </a:p>
        </p:txBody>
      </p:sp>
      <p:sp>
        <p:nvSpPr>
          <p:cNvPr id="4" name="Numéro"/>
          <p:cNvSpPr txBox="1"/>
          <p:nvPr/>
        </p:nvSpPr>
        <p:spPr>
          <a:xfrm>
            <a:off x="10698480" y="6400800"/>
            <a:ext cx="941832" cy="274320"/>
          </a:xfrm>
          <a:prstGeom prst="rect">
            <a:avLst/>
          </a:prstGeom>
          <a:noFill/>
        </p:spPr>
        <p:txBody>
          <a:bodyPr wrap="square" anchor="t" lIns="0" rIns="0" tIns="0" bIns="0">
            <a:spAutoFit/>
          </a:bodyPr>
          <a:lstStyle/>
          <a:p>
            <a:pPr algn="r"/>
            <a:r>
              <a:rPr sz="1000" b="0" i="0">
                <a:solidFill>
                  <a:srgbClr val="5B6475"/>
                </a:solidFill>
                <a:latin typeface="Calibri"/>
              </a:rPr>
              <a:t>5 / 12</a:t>
            </a:r>
          </a:p>
        </p:txBody>
      </p:sp>
      <p:graphicFrame>
        <p:nvGraphicFramePr>
          <p:cNvPr id="5" name="Rétention par cohorte"/>
          <p:cNvGraphicFramePr>
            <a:graphicFrameLocks noGrp="1"/>
          </p:cNvGraphicFramePr>
          <p:nvPr/>
        </p:nvGraphicFramePr>
        <p:xfrm>
          <a:off x="548640" y="1554480"/>
          <a:ext cx="7498079" cy="4480560"/>
        </p:xfrm>
        <a:graphic>
          <a:graphicData uri="http://schemas.openxmlformats.org/drawingml/2006/chart">
            <c:chart xmlns:c="http://schemas.openxmlformats.org/drawingml/2006/chart" r:id="rId2"/>
          </a:graphicData>
        </a:graphic>
      </p:graphicFrame>
      <p:sp>
        <p:nvSpPr>
          <p:cNvPr id="6" name="TextBox 5"/>
          <p:cNvSpPr txBox="1"/>
          <p:nvPr/>
        </p:nvSpPr>
        <p:spPr>
          <a:xfrm>
            <a:off x="548640" y="1371600"/>
            <a:ext cx="7498079" cy="274320"/>
          </a:xfrm>
          <a:prstGeom prst="rect">
            <a:avLst/>
          </a:prstGeom>
          <a:noFill/>
        </p:spPr>
        <p:txBody>
          <a:bodyPr wrap="square" anchor="t" lIns="0" rIns="0" tIns="0" bIns="0">
            <a:spAutoFit/>
          </a:bodyPr>
          <a:lstStyle/>
          <a:p>
            <a:pPr algn="l"/>
            <a:r>
              <a:rPr sz="1200" b="0" i="0">
                <a:solidFill>
                  <a:srgbClr val="5B6475"/>
                </a:solidFill>
                <a:latin typeface="Calibri"/>
              </a:rPr>
              <a:t>Part des employés d'une cohorte d'embauche encore présents (%)</a:t>
            </a:r>
          </a:p>
        </p:txBody>
      </p:sp>
      <p:sp>
        <p:nvSpPr>
          <p:cNvPr id="7" name="Rounded Rectangle 6"/>
          <p:cNvSpPr/>
          <p:nvPr/>
        </p:nvSpPr>
        <p:spPr>
          <a:xfrm>
            <a:off x="8412480" y="1554480"/>
            <a:ext cx="3227832" cy="2148840"/>
          </a:xfrm>
          <a:prstGeom prst="roundRect">
            <a:avLst>
              <a:gd name="adj" fmla="val 6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0" y="1737360"/>
            <a:ext cx="2679191" cy="822960"/>
          </a:xfrm>
          <a:prstGeom prst="rect">
            <a:avLst/>
          </a:prstGeom>
          <a:noFill/>
        </p:spPr>
        <p:txBody>
          <a:bodyPr wrap="square" anchor="ctr" lIns="0" rIns="0" tIns="0" bIns="0">
            <a:spAutoFit/>
          </a:bodyPr>
          <a:lstStyle/>
          <a:p>
            <a:pPr algn="l"/>
            <a:r>
              <a:rPr sz="4000" b="1" i="0">
                <a:solidFill>
                  <a:srgbClr val="14213D"/>
                </a:solidFill>
                <a:latin typeface="Cambria"/>
              </a:rPr>
              <a:t>95,6 %</a:t>
            </a:r>
          </a:p>
        </p:txBody>
      </p:sp>
      <p:sp>
        <p:nvSpPr>
          <p:cNvPr id="9" name="TextBox 8"/>
          <p:cNvSpPr txBox="1"/>
          <p:nvPr/>
        </p:nvSpPr>
        <p:spPr>
          <a:xfrm>
            <a:off x="8686800" y="2606039"/>
            <a:ext cx="2679191" cy="960120"/>
          </a:xfrm>
          <a:prstGeom prst="rect">
            <a:avLst/>
          </a:prstGeom>
          <a:noFill/>
        </p:spPr>
        <p:txBody>
          <a:bodyPr wrap="square" anchor="t" lIns="0" rIns="0" tIns="0" bIns="0">
            <a:spAutoFit/>
          </a:bodyPr>
          <a:lstStyle/>
          <a:p>
            <a:pPr algn="l"/>
            <a:r>
              <a:rPr sz="1500" b="1" i="0">
                <a:solidFill>
                  <a:srgbClr val="1B1F2A"/>
                </a:solidFill>
                <a:latin typeface="Calibri"/>
              </a:rPr>
              <a:t>encore là après 24 mois</a:t>
            </a:r>
          </a:p>
          <a:p>
            <a:pPr algn="l"/>
            <a:r>
              <a:rPr sz="1300" b="0" i="0">
                <a:solidFill>
                  <a:srgbClr val="5B6475"/>
                </a:solidFill>
                <a:latin typeface="Calibri"/>
              </a:rPr>
              <a:t>toutes cohortes confondues</a:t>
            </a:r>
          </a:p>
        </p:txBody>
      </p:sp>
      <p:sp>
        <p:nvSpPr>
          <p:cNvPr id="10" name="Rounded Rectangle 9"/>
          <p:cNvSpPr/>
          <p:nvPr/>
        </p:nvSpPr>
        <p:spPr>
          <a:xfrm>
            <a:off x="8412480" y="3886200"/>
            <a:ext cx="3227832" cy="2148840"/>
          </a:xfrm>
          <a:prstGeom prst="roundRect">
            <a:avLst>
              <a:gd name="adj" fmla="val 6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0" y="3977639"/>
            <a:ext cx="2697480" cy="1965960"/>
          </a:xfrm>
          <a:prstGeom prst="rect">
            <a:avLst/>
          </a:prstGeom>
          <a:noFill/>
        </p:spPr>
        <p:txBody>
          <a:bodyPr wrap="square" anchor="ctr" lIns="0" rIns="0" tIns="0" bIns="0">
            <a:spAutoFit/>
          </a:bodyPr>
          <a:lstStyle/>
          <a:p>
            <a:pPr algn="l"/>
            <a:r>
              <a:rPr sz="1500" b="1" i="0">
                <a:solidFill>
                  <a:srgbClr val="1B1F2A"/>
                </a:solidFill>
                <a:latin typeface="Calibri"/>
              </a:rPr>
              <a:t>La cohorte 2020 est la plus basse (85,4 %)</a:t>
            </a:r>
          </a:p>
          <a:p>
            <a:pPr algn="l"/>
            <a:r>
              <a:rPr sz="1300" b="0" i="0">
                <a:solidFill>
                  <a:srgbClr val="5B6475"/>
                </a:solidFill>
                <a:latin typeface="Calibri"/>
              </a:rPr>
              <a:t>mais l'écart tient surtout à la durée d'observation : à ancienneté égale, les cohortes se valent.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re"/>
          <p:cNvSpPr txBox="1"/>
          <p:nvPr/>
        </p:nvSpPr>
        <p:spPr>
          <a:xfrm>
            <a:off x="548640" y="411480"/>
            <a:ext cx="11064240" cy="1051560"/>
          </a:xfrm>
          <a:prstGeom prst="rect">
            <a:avLst/>
          </a:prstGeom>
          <a:noFill/>
        </p:spPr>
        <p:txBody>
          <a:bodyPr wrap="square" anchor="t" lIns="0" rIns="0" tIns="0" bIns="0">
            <a:spAutoFit/>
          </a:bodyPr>
          <a:lstStyle/>
          <a:p>
            <a:pPr algn="l"/>
            <a:r>
              <a:rPr sz="3000" b="1" i="0">
                <a:solidFill>
                  <a:srgbClr val="14213D"/>
                </a:solidFill>
                <a:latin typeface="Cambria"/>
              </a:rPr>
              <a:t>Une performance stable, avec 228 actifs à accompagner</a:t>
            </a:r>
          </a:p>
        </p:txBody>
      </p:sp>
      <p:sp>
        <p:nvSpPr>
          <p:cNvPr id="3" name="Pied de page"/>
          <p:cNvSpPr txBox="1"/>
          <p:nvPr/>
        </p:nvSpPr>
        <p:spPr>
          <a:xfrm>
            <a:off x="548640" y="6400800"/>
            <a:ext cx="7315200" cy="274320"/>
          </a:xfrm>
          <a:prstGeom prst="rect">
            <a:avLst/>
          </a:prstGeom>
          <a:noFill/>
        </p:spPr>
        <p:txBody>
          <a:bodyPr wrap="square" anchor="t" lIns="0" rIns="0" tIns="0" bIns="0">
            <a:spAutoFit/>
          </a:bodyPr>
          <a:lstStyle/>
          <a:p>
            <a:pPr algn="l"/>
            <a:r>
              <a:rPr sz="1000" b="0" i="0">
                <a:solidFill>
                  <a:srgbClr val="5B6475"/>
                </a:solidFill>
                <a:latin typeface="Calibri"/>
              </a:rPr>
              <a:t>DataLendo · RH Analytics · Octobre 2026</a:t>
            </a:r>
          </a:p>
        </p:txBody>
      </p:sp>
      <p:sp>
        <p:nvSpPr>
          <p:cNvPr id="4" name="Numéro"/>
          <p:cNvSpPr txBox="1"/>
          <p:nvPr/>
        </p:nvSpPr>
        <p:spPr>
          <a:xfrm>
            <a:off x="10698480" y="6400800"/>
            <a:ext cx="941832" cy="274320"/>
          </a:xfrm>
          <a:prstGeom prst="rect">
            <a:avLst/>
          </a:prstGeom>
          <a:noFill/>
        </p:spPr>
        <p:txBody>
          <a:bodyPr wrap="square" anchor="t" lIns="0" rIns="0" tIns="0" bIns="0">
            <a:spAutoFit/>
          </a:bodyPr>
          <a:lstStyle/>
          <a:p>
            <a:pPr algn="r"/>
            <a:r>
              <a:rPr sz="1000" b="0" i="0">
                <a:solidFill>
                  <a:srgbClr val="5B6475"/>
                </a:solidFill>
                <a:latin typeface="Calibri"/>
              </a:rPr>
              <a:t>6 / 12</a:t>
            </a:r>
          </a:p>
        </p:txBody>
      </p:sp>
      <p:graphicFrame>
        <p:nvGraphicFramePr>
          <p:cNvPr id="5" name="Segmentation de la performance"/>
          <p:cNvGraphicFramePr>
            <a:graphicFrameLocks noGrp="1"/>
          </p:cNvGraphicFramePr>
          <p:nvPr/>
        </p:nvGraphicFramePr>
        <p:xfrm>
          <a:off x="548640" y="1554480"/>
          <a:ext cx="5669280" cy="4480560"/>
        </p:xfrm>
        <a:graphic>
          <a:graphicData uri="http://schemas.openxmlformats.org/drawingml/2006/chart">
            <c:chart xmlns:c="http://schemas.openxmlformats.org/drawingml/2006/chart" r:id="rId2"/>
          </a:graphicData>
        </a:graphic>
      </p:graphicFrame>
      <p:sp>
        <p:nvSpPr>
          <p:cNvPr id="6" name="TextBox 5"/>
          <p:cNvSpPr txBox="1"/>
          <p:nvPr/>
        </p:nvSpPr>
        <p:spPr>
          <a:xfrm>
            <a:off x="548640" y="1371600"/>
            <a:ext cx="5669280" cy="274320"/>
          </a:xfrm>
          <a:prstGeom prst="rect">
            <a:avLst/>
          </a:prstGeom>
          <a:noFill/>
        </p:spPr>
        <p:txBody>
          <a:bodyPr wrap="square" anchor="t" lIns="0" rIns="0" tIns="0" bIns="0">
            <a:spAutoFit/>
          </a:bodyPr>
          <a:lstStyle/>
          <a:p>
            <a:pPr algn="l"/>
            <a:r>
              <a:rPr sz="1200" b="0" i="0">
                <a:solidFill>
                  <a:srgbClr val="5B6475"/>
                </a:solidFill>
                <a:latin typeface="Calibri"/>
              </a:rPr>
              <a:t>Répartition des 1 448 employés évalués</a:t>
            </a:r>
          </a:p>
        </p:txBody>
      </p:sp>
      <p:sp>
        <p:nvSpPr>
          <p:cNvPr id="7" name="Rounded Rectangle 6"/>
          <p:cNvSpPr/>
          <p:nvPr/>
        </p:nvSpPr>
        <p:spPr>
          <a:xfrm>
            <a:off x="6583680" y="1554480"/>
            <a:ext cx="2468880" cy="2148840"/>
          </a:xfrm>
          <a:prstGeom prst="roundRect">
            <a:avLst>
              <a:gd name="adj" fmla="val 6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0" y="1737360"/>
            <a:ext cx="1920240" cy="822960"/>
          </a:xfrm>
          <a:prstGeom prst="rect">
            <a:avLst/>
          </a:prstGeom>
          <a:noFill/>
        </p:spPr>
        <p:txBody>
          <a:bodyPr wrap="square" anchor="ctr" lIns="0" rIns="0" tIns="0" bIns="0">
            <a:spAutoFit/>
          </a:bodyPr>
          <a:lstStyle/>
          <a:p>
            <a:pPr algn="l"/>
            <a:r>
              <a:rPr sz="4400" b="1" i="0">
                <a:solidFill>
                  <a:srgbClr val="14213D"/>
                </a:solidFill>
                <a:latin typeface="Cambria"/>
              </a:rPr>
              <a:t>74,5</a:t>
            </a:r>
          </a:p>
        </p:txBody>
      </p:sp>
      <p:sp>
        <p:nvSpPr>
          <p:cNvPr id="9" name="TextBox 8"/>
          <p:cNvSpPr txBox="1"/>
          <p:nvPr/>
        </p:nvSpPr>
        <p:spPr>
          <a:xfrm>
            <a:off x="6858000" y="2606039"/>
            <a:ext cx="1920240" cy="960120"/>
          </a:xfrm>
          <a:prstGeom prst="rect">
            <a:avLst/>
          </a:prstGeom>
          <a:noFill/>
        </p:spPr>
        <p:txBody>
          <a:bodyPr wrap="square" anchor="t" lIns="0" rIns="0" tIns="0" bIns="0">
            <a:spAutoFit/>
          </a:bodyPr>
          <a:lstStyle/>
          <a:p>
            <a:pPr algn="l"/>
            <a:r>
              <a:rPr sz="1500" b="1" i="0">
                <a:solidFill>
                  <a:srgbClr val="1B1F2A"/>
                </a:solidFill>
                <a:latin typeface="Calibri"/>
              </a:rPr>
              <a:t>score moyen /100</a:t>
            </a:r>
          </a:p>
          <a:p>
            <a:pPr algn="l"/>
            <a:r>
              <a:rPr sz="1300" b="0" i="0">
                <a:solidFill>
                  <a:srgbClr val="5B6475"/>
                </a:solidFill>
                <a:latin typeface="Calibri"/>
              </a:rPr>
              <a:t>stable sur 12 trimestres</a:t>
            </a:r>
          </a:p>
        </p:txBody>
      </p:sp>
      <p:sp>
        <p:nvSpPr>
          <p:cNvPr id="10" name="Rounded Rectangle 9"/>
          <p:cNvSpPr/>
          <p:nvPr/>
        </p:nvSpPr>
        <p:spPr>
          <a:xfrm>
            <a:off x="9171432" y="1554480"/>
            <a:ext cx="2468880" cy="2148840"/>
          </a:xfrm>
          <a:prstGeom prst="roundRect">
            <a:avLst>
              <a:gd name="adj" fmla="val 6000"/>
            </a:avLst>
          </a:prstGeom>
          <a:solidFill>
            <a:srgbClr val="FDE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45752" y="1737360"/>
            <a:ext cx="1920240" cy="822960"/>
          </a:xfrm>
          <a:prstGeom prst="rect">
            <a:avLst/>
          </a:prstGeom>
          <a:noFill/>
        </p:spPr>
        <p:txBody>
          <a:bodyPr wrap="square" anchor="ctr" lIns="0" rIns="0" tIns="0" bIns="0">
            <a:spAutoFit/>
          </a:bodyPr>
          <a:lstStyle/>
          <a:p>
            <a:pPr algn="l"/>
            <a:r>
              <a:rPr sz="4400" b="1" i="0">
                <a:solidFill>
                  <a:srgbClr val="E8553A"/>
                </a:solidFill>
                <a:latin typeface="Cambria"/>
              </a:rPr>
              <a:t>228</a:t>
            </a:r>
          </a:p>
        </p:txBody>
      </p:sp>
      <p:sp>
        <p:nvSpPr>
          <p:cNvPr id="12" name="TextBox 11"/>
          <p:cNvSpPr txBox="1"/>
          <p:nvPr/>
        </p:nvSpPr>
        <p:spPr>
          <a:xfrm>
            <a:off x="9445752" y="2606039"/>
            <a:ext cx="1920240" cy="960120"/>
          </a:xfrm>
          <a:prstGeom prst="rect">
            <a:avLst/>
          </a:prstGeom>
          <a:noFill/>
        </p:spPr>
        <p:txBody>
          <a:bodyPr wrap="square" anchor="t" lIns="0" rIns="0" tIns="0" bIns="0">
            <a:spAutoFit/>
          </a:bodyPr>
          <a:lstStyle/>
          <a:p>
            <a:pPr algn="l"/>
            <a:r>
              <a:rPr sz="1500" b="1" i="0">
                <a:solidFill>
                  <a:srgbClr val="1B1F2A"/>
                </a:solidFill>
                <a:latin typeface="Calibri"/>
              </a:rPr>
              <a:t>actifs à profil faible</a:t>
            </a:r>
          </a:p>
          <a:p>
            <a:pPr algn="l"/>
            <a:r>
              <a:rPr sz="1300" b="0" i="0">
                <a:solidFill>
                  <a:srgbClr val="5B6475"/>
                </a:solidFill>
                <a:latin typeface="Calibri"/>
              </a:rPr>
              <a:t>à suivre individuellement</a:t>
            </a:r>
          </a:p>
        </p:txBody>
      </p:sp>
      <p:sp>
        <p:nvSpPr>
          <p:cNvPr id="13" name="Rounded Rectangle 12"/>
          <p:cNvSpPr/>
          <p:nvPr/>
        </p:nvSpPr>
        <p:spPr>
          <a:xfrm>
            <a:off x="6583680" y="3886200"/>
            <a:ext cx="5056632" cy="2148840"/>
          </a:xfrm>
          <a:prstGeom prst="roundRect">
            <a:avLst>
              <a:gd name="adj" fmla="val 6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0" y="3977639"/>
            <a:ext cx="4526280" cy="1965960"/>
          </a:xfrm>
          <a:prstGeom prst="rect">
            <a:avLst/>
          </a:prstGeom>
          <a:noFill/>
        </p:spPr>
        <p:txBody>
          <a:bodyPr wrap="square" anchor="ctr" lIns="0" rIns="0" tIns="0" bIns="0">
            <a:spAutoFit/>
          </a:bodyPr>
          <a:lstStyle/>
          <a:p>
            <a:pPr algn="l"/>
            <a:r>
              <a:rPr sz="1500" b="1" i="0">
                <a:solidFill>
                  <a:srgbClr val="1B1F2A"/>
                </a:solidFill>
                <a:latin typeface="Calibri"/>
              </a:rPr>
              <a:t>Les départs ne sont pas liés à la performance</a:t>
            </a:r>
          </a:p>
          <a:p>
            <a:pPr algn="l"/>
            <a:r>
              <a:rPr sz="1300" b="0" i="0">
                <a:solidFill>
                  <a:srgbClr val="5B6475"/>
                </a:solidFill>
                <a:latin typeface="Calibri"/>
              </a:rPr>
              <a:t>Score moyen des partis : 74,1 · des actifs : 74,5. Aucune fuite des meilleurs talents n'apparaît dans les données.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re"/>
          <p:cNvSpPr txBox="1"/>
          <p:nvPr/>
        </p:nvSpPr>
        <p:spPr>
          <a:xfrm>
            <a:off x="548640" y="411480"/>
            <a:ext cx="11064240" cy="1051560"/>
          </a:xfrm>
          <a:prstGeom prst="rect">
            <a:avLst/>
          </a:prstGeom>
          <a:noFill/>
        </p:spPr>
        <p:txBody>
          <a:bodyPr wrap="square" anchor="t" lIns="0" rIns="0" tIns="0" bIns="0">
            <a:spAutoFit/>
          </a:bodyPr>
          <a:lstStyle/>
          <a:p>
            <a:pPr algn="l"/>
            <a:r>
              <a:rPr sz="3000" b="1" i="0">
                <a:solidFill>
                  <a:srgbClr val="14213D"/>
                </a:solidFill>
                <a:latin typeface="Cambria"/>
              </a:rPr>
              <a:t>La rémunération ne récompense pas la performance</a:t>
            </a:r>
          </a:p>
        </p:txBody>
      </p:sp>
      <p:sp>
        <p:nvSpPr>
          <p:cNvPr id="3" name="Pied de page"/>
          <p:cNvSpPr txBox="1"/>
          <p:nvPr/>
        </p:nvSpPr>
        <p:spPr>
          <a:xfrm>
            <a:off x="548640" y="6400800"/>
            <a:ext cx="7315200" cy="274320"/>
          </a:xfrm>
          <a:prstGeom prst="rect">
            <a:avLst/>
          </a:prstGeom>
          <a:noFill/>
        </p:spPr>
        <p:txBody>
          <a:bodyPr wrap="square" anchor="t" lIns="0" rIns="0" tIns="0" bIns="0">
            <a:spAutoFit/>
          </a:bodyPr>
          <a:lstStyle/>
          <a:p>
            <a:pPr algn="l"/>
            <a:r>
              <a:rPr sz="1000" b="0" i="0">
                <a:solidFill>
                  <a:srgbClr val="5B6475"/>
                </a:solidFill>
                <a:latin typeface="Calibri"/>
              </a:rPr>
              <a:t>DataLendo · RH Analytics · Octobre 2026</a:t>
            </a:r>
          </a:p>
        </p:txBody>
      </p:sp>
      <p:sp>
        <p:nvSpPr>
          <p:cNvPr id="4" name="Numéro"/>
          <p:cNvSpPr txBox="1"/>
          <p:nvPr/>
        </p:nvSpPr>
        <p:spPr>
          <a:xfrm>
            <a:off x="10698480" y="6400800"/>
            <a:ext cx="941832" cy="274320"/>
          </a:xfrm>
          <a:prstGeom prst="rect">
            <a:avLst/>
          </a:prstGeom>
          <a:noFill/>
        </p:spPr>
        <p:txBody>
          <a:bodyPr wrap="square" anchor="t" lIns="0" rIns="0" tIns="0" bIns="0">
            <a:spAutoFit/>
          </a:bodyPr>
          <a:lstStyle/>
          <a:p>
            <a:pPr algn="r"/>
            <a:r>
              <a:rPr sz="1000" b="0" i="0">
                <a:solidFill>
                  <a:srgbClr val="5B6475"/>
                </a:solidFill>
                <a:latin typeface="Calibri"/>
              </a:rPr>
              <a:t>7 / 12</a:t>
            </a:r>
          </a:p>
        </p:txBody>
      </p:sp>
      <p:graphicFrame>
        <p:nvGraphicFramePr>
          <p:cNvPr id="5" name="Salaire par profil"/>
          <p:cNvGraphicFramePr>
            <a:graphicFrameLocks noGrp="1"/>
          </p:cNvGraphicFramePr>
          <p:nvPr/>
        </p:nvGraphicFramePr>
        <p:xfrm>
          <a:off x="548640" y="1554480"/>
          <a:ext cx="6583680" cy="4480560"/>
        </p:xfrm>
        <a:graphic>
          <a:graphicData uri="http://schemas.openxmlformats.org/drawingml/2006/chart">
            <c:chart xmlns:c="http://schemas.openxmlformats.org/drawingml/2006/chart" r:id="rId2"/>
          </a:graphicData>
        </a:graphic>
      </p:graphicFrame>
      <p:sp>
        <p:nvSpPr>
          <p:cNvPr id="6" name="TextBox 5"/>
          <p:cNvSpPr txBox="1"/>
          <p:nvPr/>
        </p:nvSpPr>
        <p:spPr>
          <a:xfrm>
            <a:off x="548640" y="1371600"/>
            <a:ext cx="6583680" cy="274320"/>
          </a:xfrm>
          <a:prstGeom prst="rect">
            <a:avLst/>
          </a:prstGeom>
          <a:noFill/>
        </p:spPr>
        <p:txBody>
          <a:bodyPr wrap="square" anchor="t" lIns="0" rIns="0" tIns="0" bIns="0">
            <a:spAutoFit/>
          </a:bodyPr>
          <a:lstStyle/>
          <a:p>
            <a:pPr algn="l"/>
            <a:r>
              <a:rPr sz="1200" b="0" i="0">
                <a:solidFill>
                  <a:srgbClr val="5B6475"/>
                </a:solidFill>
                <a:latin typeface="Calibri"/>
              </a:rPr>
              <a:t>Salaire moyen selon le niveau de performance (tous employés)</a:t>
            </a:r>
          </a:p>
        </p:txBody>
      </p:sp>
      <p:sp>
        <p:nvSpPr>
          <p:cNvPr id="7" name="Rounded Rectangle 6"/>
          <p:cNvSpPr/>
          <p:nvPr/>
        </p:nvSpPr>
        <p:spPr>
          <a:xfrm>
            <a:off x="7498079" y="1554480"/>
            <a:ext cx="4142232" cy="2148840"/>
          </a:xfrm>
          <a:prstGeom prst="roundRect">
            <a:avLst>
              <a:gd name="adj" fmla="val 6000"/>
            </a:avLst>
          </a:prstGeom>
          <a:solidFill>
            <a:srgbClr val="FDE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0" y="1737360"/>
            <a:ext cx="3593592" cy="822960"/>
          </a:xfrm>
          <a:prstGeom prst="rect">
            <a:avLst/>
          </a:prstGeom>
          <a:noFill/>
        </p:spPr>
        <p:txBody>
          <a:bodyPr wrap="square" anchor="ctr" lIns="0" rIns="0" tIns="0" bIns="0">
            <a:spAutoFit/>
          </a:bodyPr>
          <a:lstStyle/>
          <a:p>
            <a:pPr algn="l"/>
            <a:r>
              <a:rPr sz="4000" b="1" i="0">
                <a:solidFill>
                  <a:srgbClr val="E8553A"/>
                </a:solidFill>
                <a:latin typeface="Cambria"/>
              </a:rPr>
              <a:t>r = −0,01</a:t>
            </a:r>
          </a:p>
        </p:txBody>
      </p:sp>
      <p:sp>
        <p:nvSpPr>
          <p:cNvPr id="9" name="TextBox 8"/>
          <p:cNvSpPr txBox="1"/>
          <p:nvPr/>
        </p:nvSpPr>
        <p:spPr>
          <a:xfrm>
            <a:off x="7772400" y="2606039"/>
            <a:ext cx="3593592" cy="960120"/>
          </a:xfrm>
          <a:prstGeom prst="rect">
            <a:avLst/>
          </a:prstGeom>
          <a:noFill/>
        </p:spPr>
        <p:txBody>
          <a:bodyPr wrap="square" anchor="t" lIns="0" rIns="0" tIns="0" bIns="0">
            <a:spAutoFit/>
          </a:bodyPr>
          <a:lstStyle/>
          <a:p>
            <a:pPr algn="l"/>
            <a:r>
              <a:rPr sz="1500" b="1" i="0">
                <a:solidFill>
                  <a:srgbClr val="1B1F2A"/>
                </a:solidFill>
                <a:latin typeface="Calibri"/>
              </a:rPr>
              <a:t>corrélation salaire / performance</a:t>
            </a:r>
          </a:p>
          <a:p>
            <a:pPr algn="l"/>
            <a:r>
              <a:rPr sz="1300" b="0" i="0">
                <a:solidFill>
                  <a:srgbClr val="5B6475"/>
                </a:solidFill>
                <a:latin typeface="Calibri"/>
              </a:rPr>
              <a:t>aucun lien mesurable</a:t>
            </a:r>
          </a:p>
        </p:txBody>
      </p:sp>
      <p:sp>
        <p:nvSpPr>
          <p:cNvPr id="10" name="Rounded Rectangle 9"/>
          <p:cNvSpPr/>
          <p:nvPr/>
        </p:nvSpPr>
        <p:spPr>
          <a:xfrm>
            <a:off x="7498079" y="3886200"/>
            <a:ext cx="4142232" cy="2148840"/>
          </a:xfrm>
          <a:prstGeom prst="roundRect">
            <a:avLst>
              <a:gd name="adj" fmla="val 6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0" y="4069080"/>
            <a:ext cx="3593592" cy="822960"/>
          </a:xfrm>
          <a:prstGeom prst="rect">
            <a:avLst/>
          </a:prstGeom>
          <a:noFill/>
        </p:spPr>
        <p:txBody>
          <a:bodyPr wrap="square" anchor="ctr" lIns="0" rIns="0" tIns="0" bIns="0">
            <a:spAutoFit/>
          </a:bodyPr>
          <a:lstStyle/>
          <a:p>
            <a:pPr algn="l"/>
            <a:r>
              <a:rPr sz="4000" b="1" i="0">
                <a:solidFill>
                  <a:srgbClr val="14213D"/>
                </a:solidFill>
                <a:latin typeface="Cambria"/>
              </a:rPr>
              <a:t>r = +0,01</a:t>
            </a:r>
          </a:p>
        </p:txBody>
      </p:sp>
      <p:sp>
        <p:nvSpPr>
          <p:cNvPr id="12" name="TextBox 11"/>
          <p:cNvSpPr txBox="1"/>
          <p:nvPr/>
        </p:nvSpPr>
        <p:spPr>
          <a:xfrm>
            <a:off x="7772400" y="4937760"/>
            <a:ext cx="3593592" cy="960120"/>
          </a:xfrm>
          <a:prstGeom prst="rect">
            <a:avLst/>
          </a:prstGeom>
          <a:noFill/>
        </p:spPr>
        <p:txBody>
          <a:bodyPr wrap="square" anchor="t" lIns="0" rIns="0" tIns="0" bIns="0">
            <a:spAutoFit/>
          </a:bodyPr>
          <a:lstStyle/>
          <a:p>
            <a:pPr algn="l"/>
            <a:r>
              <a:rPr sz="1500" b="1" i="0">
                <a:solidFill>
                  <a:srgbClr val="1B1F2A"/>
                </a:solidFill>
                <a:latin typeface="Calibri"/>
              </a:rPr>
              <a:t>corrélation salaire / ancienneté</a:t>
            </a:r>
          </a:p>
          <a:p>
            <a:pPr algn="l"/>
            <a:r>
              <a:rPr sz="1300" b="0" i="0">
                <a:solidFill>
                  <a:srgbClr val="5B6475"/>
                </a:solidFill>
                <a:latin typeface="Calibri"/>
              </a:rPr>
              <a:t>et seulement 4 % d'écart entre les postes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re"/>
          <p:cNvSpPr txBox="1"/>
          <p:nvPr/>
        </p:nvSpPr>
        <p:spPr>
          <a:xfrm>
            <a:off x="548640" y="411480"/>
            <a:ext cx="11064240" cy="1051560"/>
          </a:xfrm>
          <a:prstGeom prst="rect">
            <a:avLst/>
          </a:prstGeom>
          <a:noFill/>
        </p:spPr>
        <p:txBody>
          <a:bodyPr wrap="square" anchor="t" lIns="0" rIns="0" tIns="0" bIns="0">
            <a:spAutoFit/>
          </a:bodyPr>
          <a:lstStyle/>
          <a:p>
            <a:pPr algn="l"/>
            <a:r>
              <a:rPr sz="3000" b="1" i="0">
                <a:solidFill>
                  <a:srgbClr val="14213D"/>
                </a:solidFill>
                <a:latin typeface="Cambria"/>
              </a:rPr>
              <a:t>Plus de deux ans sans feedback enregistré</a:t>
            </a:r>
          </a:p>
        </p:txBody>
      </p:sp>
      <p:sp>
        <p:nvSpPr>
          <p:cNvPr id="3" name="Pied de page"/>
          <p:cNvSpPr txBox="1"/>
          <p:nvPr/>
        </p:nvSpPr>
        <p:spPr>
          <a:xfrm>
            <a:off x="548640" y="6400800"/>
            <a:ext cx="7315200" cy="274320"/>
          </a:xfrm>
          <a:prstGeom prst="rect">
            <a:avLst/>
          </a:prstGeom>
          <a:noFill/>
        </p:spPr>
        <p:txBody>
          <a:bodyPr wrap="square" anchor="t" lIns="0" rIns="0" tIns="0" bIns="0">
            <a:spAutoFit/>
          </a:bodyPr>
          <a:lstStyle/>
          <a:p>
            <a:pPr algn="l"/>
            <a:r>
              <a:rPr sz="1000" b="0" i="0">
                <a:solidFill>
                  <a:srgbClr val="5B6475"/>
                </a:solidFill>
                <a:latin typeface="Calibri"/>
              </a:rPr>
              <a:t>DataLendo · RH Analytics · Octobre 2026</a:t>
            </a:r>
          </a:p>
        </p:txBody>
      </p:sp>
      <p:sp>
        <p:nvSpPr>
          <p:cNvPr id="4" name="Numéro"/>
          <p:cNvSpPr txBox="1"/>
          <p:nvPr/>
        </p:nvSpPr>
        <p:spPr>
          <a:xfrm>
            <a:off x="10698480" y="6400800"/>
            <a:ext cx="941832" cy="274320"/>
          </a:xfrm>
          <a:prstGeom prst="rect">
            <a:avLst/>
          </a:prstGeom>
          <a:noFill/>
        </p:spPr>
        <p:txBody>
          <a:bodyPr wrap="square" anchor="t" lIns="0" rIns="0" tIns="0" bIns="0">
            <a:spAutoFit/>
          </a:bodyPr>
          <a:lstStyle/>
          <a:p>
            <a:pPr algn="r"/>
            <a:r>
              <a:rPr sz="1000" b="0" i="0">
                <a:solidFill>
                  <a:srgbClr val="5B6475"/>
                </a:solidFill>
                <a:latin typeface="Calibri"/>
              </a:rPr>
              <a:t>8 / 12</a:t>
            </a:r>
          </a:p>
        </p:txBody>
      </p:sp>
      <p:sp>
        <p:nvSpPr>
          <p:cNvPr id="5" name="Axe du temps"/>
          <p:cNvSpPr/>
          <p:nvPr/>
        </p:nvSpPr>
        <p:spPr>
          <a:xfrm>
            <a:off x="1097280" y="2898648"/>
            <a:ext cx="9966960" cy="54864"/>
          </a:xfrm>
          <a:prstGeom prst="rect">
            <a:avLst/>
          </a:prstGeom>
          <a:solidFill>
            <a:srgbClr val="C9CF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ériode sans feedback"/>
          <p:cNvSpPr/>
          <p:nvPr/>
        </p:nvSpPr>
        <p:spPr>
          <a:xfrm>
            <a:off x="1097280" y="2898648"/>
            <a:ext cx="9966960" cy="54864"/>
          </a:xfrm>
          <a:prstGeom prst="rect">
            <a:avLst/>
          </a:prstGeom>
          <a:solidFill>
            <a:srgbClr val="E85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ébut"/>
          <p:cNvSpPr/>
          <p:nvPr/>
        </p:nvSpPr>
        <p:spPr>
          <a:xfrm>
            <a:off x="960120" y="2743200"/>
            <a:ext cx="365760" cy="36576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in"/>
          <p:cNvSpPr/>
          <p:nvPr/>
        </p:nvSpPr>
        <p:spPr>
          <a:xfrm>
            <a:off x="10863072" y="2743200"/>
            <a:ext cx="365760" cy="365760"/>
          </a:xfrm>
          <a:prstGeom prst="ellipse">
            <a:avLst/>
          </a:prstGeom>
          <a:solidFill>
            <a:srgbClr val="E85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828800"/>
            <a:ext cx="3291840" cy="731520"/>
          </a:xfrm>
          <a:prstGeom prst="rect">
            <a:avLst/>
          </a:prstGeom>
          <a:noFill/>
        </p:spPr>
        <p:txBody>
          <a:bodyPr wrap="square" anchor="t" lIns="0" rIns="0" tIns="0" bIns="0">
            <a:spAutoFit/>
          </a:bodyPr>
          <a:lstStyle/>
          <a:p>
            <a:pPr algn="l"/>
            <a:r>
              <a:rPr sz="1800" b="1" i="0">
                <a:solidFill>
                  <a:srgbClr val="14213D"/>
                </a:solidFill>
                <a:latin typeface="Calibri"/>
              </a:rPr>
              <a:t>1er octobre 2024</a:t>
            </a:r>
          </a:p>
          <a:p>
            <a:pPr algn="l"/>
            <a:r>
              <a:rPr sz="1300" b="0" i="0">
                <a:solidFill>
                  <a:srgbClr val="5B6475"/>
                </a:solidFill>
                <a:latin typeface="Calibri"/>
              </a:rPr>
              <a:t>dernière évaluation enregistrée</a:t>
            </a:r>
          </a:p>
        </p:txBody>
      </p:sp>
      <p:sp>
        <p:nvSpPr>
          <p:cNvPr id="10" name="TextBox 9"/>
          <p:cNvSpPr txBox="1"/>
          <p:nvPr/>
        </p:nvSpPr>
        <p:spPr>
          <a:xfrm>
            <a:off x="8321040" y="1828800"/>
            <a:ext cx="3319272" cy="731520"/>
          </a:xfrm>
          <a:prstGeom prst="rect">
            <a:avLst/>
          </a:prstGeom>
          <a:noFill/>
        </p:spPr>
        <p:txBody>
          <a:bodyPr wrap="square" anchor="t" lIns="0" rIns="0" tIns="0" bIns="0">
            <a:spAutoFit/>
          </a:bodyPr>
          <a:lstStyle/>
          <a:p>
            <a:pPr algn="r"/>
            <a:r>
              <a:rPr sz="1800" b="1" i="0">
                <a:solidFill>
                  <a:srgbClr val="E8553A"/>
                </a:solidFill>
                <a:latin typeface="Calibri"/>
              </a:rPr>
              <a:t>10 octobre 2026</a:t>
            </a:r>
          </a:p>
          <a:p>
            <a:pPr algn="r"/>
            <a:r>
              <a:rPr sz="1300" b="0" i="0">
                <a:solidFill>
                  <a:srgbClr val="5B6475"/>
                </a:solidFill>
                <a:latin typeface="Calibri"/>
              </a:rPr>
              <a:t>aujourd'hui</a:t>
            </a:r>
          </a:p>
        </p:txBody>
      </p:sp>
      <p:sp>
        <p:nvSpPr>
          <p:cNvPr id="11" name="TextBox 10"/>
          <p:cNvSpPr txBox="1"/>
          <p:nvPr/>
        </p:nvSpPr>
        <p:spPr>
          <a:xfrm>
            <a:off x="3108960" y="1783080"/>
            <a:ext cx="5943600" cy="731520"/>
          </a:xfrm>
          <a:prstGeom prst="rect">
            <a:avLst/>
          </a:prstGeom>
          <a:noFill/>
        </p:spPr>
        <p:txBody>
          <a:bodyPr wrap="square" anchor="t" lIns="0" rIns="0" tIns="0" bIns="0">
            <a:spAutoFit/>
          </a:bodyPr>
          <a:lstStyle/>
          <a:p>
            <a:pPr algn="ctr"/>
            <a:r>
              <a:rPr sz="4400" b="1" i="0">
                <a:solidFill>
                  <a:srgbClr val="E8553A"/>
                </a:solidFill>
                <a:latin typeface="Cambria"/>
              </a:rPr>
              <a:t>739 jours</a:t>
            </a:r>
          </a:p>
        </p:txBody>
      </p:sp>
      <p:sp>
        <p:nvSpPr>
          <p:cNvPr id="12" name="Rounded Rectangle 11"/>
          <p:cNvSpPr/>
          <p:nvPr/>
        </p:nvSpPr>
        <p:spPr>
          <a:xfrm>
            <a:off x="548640" y="3840480"/>
            <a:ext cx="3566160" cy="2148840"/>
          </a:xfrm>
          <a:prstGeom prst="roundRect">
            <a:avLst>
              <a:gd name="adj" fmla="val 6000"/>
            </a:avLst>
          </a:prstGeom>
          <a:solidFill>
            <a:srgbClr val="FDEC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59" y="4023360"/>
            <a:ext cx="3017520" cy="822960"/>
          </a:xfrm>
          <a:prstGeom prst="rect">
            <a:avLst/>
          </a:prstGeom>
          <a:noFill/>
        </p:spPr>
        <p:txBody>
          <a:bodyPr wrap="square" anchor="ctr" lIns="0" rIns="0" tIns="0" bIns="0">
            <a:spAutoFit/>
          </a:bodyPr>
          <a:lstStyle/>
          <a:p>
            <a:pPr algn="l"/>
            <a:r>
              <a:rPr sz="3400" b="1" i="0">
                <a:solidFill>
                  <a:srgbClr val="E8553A"/>
                </a:solidFill>
                <a:latin typeface="Cambria"/>
              </a:rPr>
              <a:t>1 329 / 1 329</a:t>
            </a:r>
          </a:p>
        </p:txBody>
      </p:sp>
      <p:sp>
        <p:nvSpPr>
          <p:cNvPr id="14" name="TextBox 13"/>
          <p:cNvSpPr txBox="1"/>
          <p:nvPr/>
        </p:nvSpPr>
        <p:spPr>
          <a:xfrm>
            <a:off x="822959" y="4892040"/>
            <a:ext cx="3017520" cy="960120"/>
          </a:xfrm>
          <a:prstGeom prst="rect">
            <a:avLst/>
          </a:prstGeom>
          <a:noFill/>
        </p:spPr>
        <p:txBody>
          <a:bodyPr wrap="square" anchor="t" lIns="0" rIns="0" tIns="0" bIns="0">
            <a:spAutoFit/>
          </a:bodyPr>
          <a:lstStyle/>
          <a:p>
            <a:pPr algn="l"/>
            <a:r>
              <a:rPr sz="1500" b="1" i="0">
                <a:solidFill>
                  <a:srgbClr val="1B1F2A"/>
                </a:solidFill>
                <a:latin typeface="Calibri"/>
              </a:rPr>
              <a:t>actifs sans évaluation en 2026</a:t>
            </a:r>
          </a:p>
          <a:p>
            <a:pPr algn="l"/>
            <a:r>
              <a:rPr sz="1300" b="0" i="0">
                <a:solidFill>
                  <a:srgbClr val="5B6475"/>
                </a:solidFill>
                <a:latin typeface="Calibri"/>
              </a:rPr>
              <a:t>100 % de l'effectif actif</a:t>
            </a:r>
          </a:p>
        </p:txBody>
      </p:sp>
      <p:sp>
        <p:nvSpPr>
          <p:cNvPr id="15" name="Rounded Rectangle 14"/>
          <p:cNvSpPr/>
          <p:nvPr/>
        </p:nvSpPr>
        <p:spPr>
          <a:xfrm>
            <a:off x="4311396" y="3840480"/>
            <a:ext cx="3566160" cy="2148840"/>
          </a:xfrm>
          <a:prstGeom prst="roundRect">
            <a:avLst>
              <a:gd name="adj" fmla="val 6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85716" y="4023360"/>
            <a:ext cx="3017520" cy="822960"/>
          </a:xfrm>
          <a:prstGeom prst="rect">
            <a:avLst/>
          </a:prstGeom>
          <a:noFill/>
        </p:spPr>
        <p:txBody>
          <a:bodyPr wrap="square" anchor="ctr" lIns="0" rIns="0" tIns="0" bIns="0">
            <a:spAutoFit/>
          </a:bodyPr>
          <a:lstStyle/>
          <a:p>
            <a:pPr algn="l"/>
            <a:r>
              <a:rPr sz="3400" b="1" i="0">
                <a:solidFill>
                  <a:srgbClr val="14213D"/>
                </a:solidFill>
                <a:latin typeface="Cambria"/>
              </a:rPr>
              <a:t>100 %</a:t>
            </a:r>
          </a:p>
        </p:txBody>
      </p:sp>
      <p:sp>
        <p:nvSpPr>
          <p:cNvPr id="17" name="TextBox 16"/>
          <p:cNvSpPr txBox="1"/>
          <p:nvPr/>
        </p:nvSpPr>
        <p:spPr>
          <a:xfrm>
            <a:off x="4585716" y="4892040"/>
            <a:ext cx="3017520" cy="960120"/>
          </a:xfrm>
          <a:prstGeom prst="rect">
            <a:avLst/>
          </a:prstGeom>
          <a:noFill/>
        </p:spPr>
        <p:txBody>
          <a:bodyPr wrap="square" anchor="t" lIns="0" rIns="0" tIns="0" bIns="0">
            <a:spAutoFit/>
          </a:bodyPr>
          <a:lstStyle/>
          <a:p>
            <a:pPr algn="l"/>
            <a:r>
              <a:rPr sz="1500" b="1" i="0">
                <a:solidFill>
                  <a:srgbClr val="1B1F2A"/>
                </a:solidFill>
                <a:latin typeface="Calibri"/>
              </a:rPr>
              <a:t>des actifs évalués en 2024</a:t>
            </a:r>
          </a:p>
          <a:p>
            <a:pPr algn="l"/>
            <a:r>
              <a:rPr sz="1300" b="0" i="0">
                <a:solidFill>
                  <a:srgbClr val="5B6475"/>
                </a:solidFill>
                <a:latin typeface="Calibri"/>
              </a:rPr>
              <a:t>le processus a existé, puis s'est arrêté</a:t>
            </a:r>
          </a:p>
        </p:txBody>
      </p:sp>
      <p:sp>
        <p:nvSpPr>
          <p:cNvPr id="18" name="Rounded Rectangle 17"/>
          <p:cNvSpPr/>
          <p:nvPr/>
        </p:nvSpPr>
        <p:spPr>
          <a:xfrm>
            <a:off x="8074152" y="3840480"/>
            <a:ext cx="3566160" cy="2148840"/>
          </a:xfrm>
          <a:prstGeom prst="roundRect">
            <a:avLst>
              <a:gd name="adj" fmla="val 6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48472" y="4023360"/>
            <a:ext cx="3017520" cy="822960"/>
          </a:xfrm>
          <a:prstGeom prst="rect">
            <a:avLst/>
          </a:prstGeom>
          <a:noFill/>
        </p:spPr>
        <p:txBody>
          <a:bodyPr wrap="square" anchor="ctr" lIns="0" rIns="0" tIns="0" bIns="0">
            <a:spAutoFit/>
          </a:bodyPr>
          <a:lstStyle/>
          <a:p>
            <a:pPr algn="l"/>
            <a:r>
              <a:rPr sz="3400" b="1" i="0">
                <a:solidFill>
                  <a:srgbClr val="14213D"/>
                </a:solidFill>
                <a:latin typeface="Cambria"/>
              </a:rPr>
              <a:t>12</a:t>
            </a:r>
          </a:p>
        </p:txBody>
      </p:sp>
      <p:sp>
        <p:nvSpPr>
          <p:cNvPr id="20" name="TextBox 19"/>
          <p:cNvSpPr txBox="1"/>
          <p:nvPr/>
        </p:nvSpPr>
        <p:spPr>
          <a:xfrm>
            <a:off x="8348472" y="4892040"/>
            <a:ext cx="3017520" cy="960120"/>
          </a:xfrm>
          <a:prstGeom prst="rect">
            <a:avLst/>
          </a:prstGeom>
          <a:noFill/>
        </p:spPr>
        <p:txBody>
          <a:bodyPr wrap="square" anchor="t" lIns="0" rIns="0" tIns="0" bIns="0">
            <a:spAutoFit/>
          </a:bodyPr>
          <a:lstStyle/>
          <a:p>
            <a:pPr algn="l"/>
            <a:r>
              <a:rPr sz="1500" b="1" i="0">
                <a:solidFill>
                  <a:srgbClr val="1B1F2A"/>
                </a:solidFill>
                <a:latin typeface="Calibri"/>
              </a:rPr>
              <a:t>trimestres d'historique</a:t>
            </a:r>
          </a:p>
          <a:p>
            <a:pPr algn="l"/>
            <a:r>
              <a:rPr sz="1300" b="0" i="0">
                <a:solidFill>
                  <a:srgbClr val="5B6475"/>
                </a:solidFill>
                <a:latin typeface="Calibri"/>
              </a:rPr>
              <a:t>T1 2022 à T4 2024, 18 000 évaluations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re"/>
          <p:cNvSpPr txBox="1"/>
          <p:nvPr/>
        </p:nvSpPr>
        <p:spPr>
          <a:xfrm>
            <a:off x="548640" y="411480"/>
            <a:ext cx="11064240" cy="1051560"/>
          </a:xfrm>
          <a:prstGeom prst="rect">
            <a:avLst/>
          </a:prstGeom>
          <a:noFill/>
        </p:spPr>
        <p:txBody>
          <a:bodyPr wrap="square" anchor="t" lIns="0" rIns="0" tIns="0" bIns="0">
            <a:spAutoFit/>
          </a:bodyPr>
          <a:lstStyle/>
          <a:p>
            <a:pPr algn="l"/>
            <a:r>
              <a:rPr sz="3000" b="1" i="0">
                <a:solidFill>
                  <a:srgbClr val="14213D"/>
                </a:solidFill>
                <a:latin typeface="Cambria"/>
              </a:rPr>
              <a:t>Des données RH à fiabiliser avant de décider</a:t>
            </a:r>
          </a:p>
        </p:txBody>
      </p:sp>
      <p:sp>
        <p:nvSpPr>
          <p:cNvPr id="3" name="Pied de page"/>
          <p:cNvSpPr txBox="1"/>
          <p:nvPr/>
        </p:nvSpPr>
        <p:spPr>
          <a:xfrm>
            <a:off x="548640" y="6400800"/>
            <a:ext cx="7315200" cy="274320"/>
          </a:xfrm>
          <a:prstGeom prst="rect">
            <a:avLst/>
          </a:prstGeom>
          <a:noFill/>
        </p:spPr>
        <p:txBody>
          <a:bodyPr wrap="square" anchor="t" lIns="0" rIns="0" tIns="0" bIns="0">
            <a:spAutoFit/>
          </a:bodyPr>
          <a:lstStyle/>
          <a:p>
            <a:pPr algn="l"/>
            <a:r>
              <a:rPr sz="1000" b="0" i="0">
                <a:solidFill>
                  <a:srgbClr val="5B6475"/>
                </a:solidFill>
                <a:latin typeface="Calibri"/>
              </a:rPr>
              <a:t>DataLendo · RH Analytics · Octobre 2026</a:t>
            </a:r>
          </a:p>
        </p:txBody>
      </p:sp>
      <p:sp>
        <p:nvSpPr>
          <p:cNvPr id="4" name="Numéro"/>
          <p:cNvSpPr txBox="1"/>
          <p:nvPr/>
        </p:nvSpPr>
        <p:spPr>
          <a:xfrm>
            <a:off x="10698480" y="6400800"/>
            <a:ext cx="941832" cy="274320"/>
          </a:xfrm>
          <a:prstGeom prst="rect">
            <a:avLst/>
          </a:prstGeom>
          <a:noFill/>
        </p:spPr>
        <p:txBody>
          <a:bodyPr wrap="square" anchor="t" lIns="0" rIns="0" tIns="0" bIns="0">
            <a:spAutoFit/>
          </a:bodyPr>
          <a:lstStyle/>
          <a:p>
            <a:pPr algn="r"/>
            <a:r>
              <a:rPr sz="1000" b="0" i="0">
                <a:solidFill>
                  <a:srgbClr val="5B6475"/>
                </a:solidFill>
                <a:latin typeface="Calibri"/>
              </a:rPr>
              <a:t>9 / 12</a:t>
            </a:r>
          </a:p>
        </p:txBody>
      </p:sp>
      <p:sp>
        <p:nvSpPr>
          <p:cNvPr id="5" name="Rounded Rectangle 4"/>
          <p:cNvSpPr/>
          <p:nvPr/>
        </p:nvSpPr>
        <p:spPr>
          <a:xfrm>
            <a:off x="548640" y="1600200"/>
            <a:ext cx="5449824" cy="1920240"/>
          </a:xfrm>
          <a:prstGeom prst="roundRect">
            <a:avLst>
              <a:gd name="adj" fmla="val 6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59" y="1783080"/>
            <a:ext cx="4901184" cy="822960"/>
          </a:xfrm>
          <a:prstGeom prst="rect">
            <a:avLst/>
          </a:prstGeom>
          <a:noFill/>
        </p:spPr>
        <p:txBody>
          <a:bodyPr wrap="square" anchor="ctr" lIns="0" rIns="0" tIns="0" bIns="0">
            <a:spAutoFit/>
          </a:bodyPr>
          <a:lstStyle/>
          <a:p>
            <a:pPr algn="l"/>
            <a:r>
              <a:rPr sz="3600" b="1" i="0">
                <a:solidFill>
                  <a:srgbClr val="14213D"/>
                </a:solidFill>
                <a:latin typeface="Cambria"/>
              </a:rPr>
              <a:t>200 / 200</a:t>
            </a:r>
          </a:p>
        </p:txBody>
      </p:sp>
      <p:sp>
        <p:nvSpPr>
          <p:cNvPr id="7" name="TextBox 6"/>
          <p:cNvSpPr txBox="1"/>
          <p:nvPr/>
        </p:nvSpPr>
        <p:spPr>
          <a:xfrm>
            <a:off x="822959" y="2651760"/>
            <a:ext cx="4901184" cy="731520"/>
          </a:xfrm>
          <a:prstGeom prst="rect">
            <a:avLst/>
          </a:prstGeom>
          <a:noFill/>
        </p:spPr>
        <p:txBody>
          <a:bodyPr wrap="square" anchor="t" lIns="0" rIns="0" tIns="0" bIns="0">
            <a:spAutoFit/>
          </a:bodyPr>
          <a:lstStyle/>
          <a:p>
            <a:pPr algn="l"/>
            <a:r>
              <a:rPr sz="1500" b="1" i="0">
                <a:solidFill>
                  <a:srgbClr val="1B1F2A"/>
                </a:solidFill>
                <a:latin typeface="Calibri"/>
              </a:rPr>
              <a:t>dates de départ contradictoires</a:t>
            </a:r>
          </a:p>
          <a:p>
            <a:pPr algn="l"/>
            <a:r>
              <a:rPr sz="1300" b="0" i="0">
                <a:solidFill>
                  <a:srgbClr val="5B6475"/>
                </a:solidFill>
                <a:latin typeface="Calibri"/>
              </a:rPr>
              <a:t>entre la table des employés et celle des départs (écarts jusqu'à 8 ans)</a:t>
            </a:r>
          </a:p>
        </p:txBody>
      </p:sp>
      <p:sp>
        <p:nvSpPr>
          <p:cNvPr id="8" name="Rounded Rectangle 7"/>
          <p:cNvSpPr/>
          <p:nvPr/>
        </p:nvSpPr>
        <p:spPr>
          <a:xfrm>
            <a:off x="6190488" y="1600200"/>
            <a:ext cx="5449824" cy="1920240"/>
          </a:xfrm>
          <a:prstGeom prst="roundRect">
            <a:avLst>
              <a:gd name="adj" fmla="val 6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64807" y="1783080"/>
            <a:ext cx="4901184" cy="822960"/>
          </a:xfrm>
          <a:prstGeom prst="rect">
            <a:avLst/>
          </a:prstGeom>
          <a:noFill/>
        </p:spPr>
        <p:txBody>
          <a:bodyPr wrap="square" anchor="ctr" lIns="0" rIns="0" tIns="0" bIns="0">
            <a:spAutoFit/>
          </a:bodyPr>
          <a:lstStyle/>
          <a:p>
            <a:pPr algn="l"/>
            <a:r>
              <a:rPr sz="3600" b="1" i="0">
                <a:solidFill>
                  <a:srgbClr val="14213D"/>
                </a:solidFill>
                <a:latin typeface="Cambria"/>
              </a:rPr>
              <a:t>29</a:t>
            </a:r>
          </a:p>
        </p:txBody>
      </p:sp>
      <p:sp>
        <p:nvSpPr>
          <p:cNvPr id="10" name="TextBox 9"/>
          <p:cNvSpPr txBox="1"/>
          <p:nvPr/>
        </p:nvSpPr>
        <p:spPr>
          <a:xfrm>
            <a:off x="6464807" y="2651760"/>
            <a:ext cx="4901184" cy="731520"/>
          </a:xfrm>
          <a:prstGeom prst="rect">
            <a:avLst/>
          </a:prstGeom>
          <a:noFill/>
        </p:spPr>
        <p:txBody>
          <a:bodyPr wrap="square" anchor="t" lIns="0" rIns="0" tIns="0" bIns="0">
            <a:spAutoFit/>
          </a:bodyPr>
          <a:lstStyle/>
          <a:p>
            <a:pPr algn="l"/>
            <a:r>
              <a:rPr sz="1500" b="1" i="0">
                <a:solidFill>
                  <a:srgbClr val="1B1F2A"/>
                </a:solidFill>
                <a:latin typeface="Calibri"/>
              </a:rPr>
              <a:t>départs datés dans le futur</a:t>
            </a:r>
          </a:p>
          <a:p>
            <a:pPr algn="l"/>
            <a:r>
              <a:rPr sz="1300" b="0" i="0">
                <a:solidFill>
                  <a:srgbClr val="5B6475"/>
                </a:solidFill>
                <a:latin typeface="Calibri"/>
              </a:rPr>
              <a:t>jusqu'en 2029 : traités comme des départs planifiés</a:t>
            </a:r>
          </a:p>
        </p:txBody>
      </p:sp>
      <p:sp>
        <p:nvSpPr>
          <p:cNvPr id="11" name="Rounded Rectangle 10"/>
          <p:cNvSpPr/>
          <p:nvPr/>
        </p:nvSpPr>
        <p:spPr>
          <a:xfrm>
            <a:off x="548640" y="3703320"/>
            <a:ext cx="5449824" cy="1920240"/>
          </a:xfrm>
          <a:prstGeom prst="roundRect">
            <a:avLst>
              <a:gd name="adj" fmla="val 6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59" y="3886200"/>
            <a:ext cx="4901184" cy="822960"/>
          </a:xfrm>
          <a:prstGeom prst="rect">
            <a:avLst/>
          </a:prstGeom>
          <a:noFill/>
        </p:spPr>
        <p:txBody>
          <a:bodyPr wrap="square" anchor="ctr" lIns="0" rIns="0" tIns="0" bIns="0">
            <a:spAutoFit/>
          </a:bodyPr>
          <a:lstStyle/>
          <a:p>
            <a:pPr algn="l"/>
            <a:r>
              <a:rPr sz="3600" b="1" i="0">
                <a:solidFill>
                  <a:srgbClr val="14213D"/>
                </a:solidFill>
                <a:latin typeface="Cambria"/>
              </a:rPr>
              <a:t>19 %</a:t>
            </a:r>
          </a:p>
        </p:txBody>
      </p:sp>
      <p:sp>
        <p:nvSpPr>
          <p:cNvPr id="13" name="TextBox 12"/>
          <p:cNvSpPr txBox="1"/>
          <p:nvPr/>
        </p:nvSpPr>
        <p:spPr>
          <a:xfrm>
            <a:off x="822959" y="4754880"/>
            <a:ext cx="4901184" cy="731520"/>
          </a:xfrm>
          <a:prstGeom prst="rect">
            <a:avLst/>
          </a:prstGeom>
          <a:noFill/>
        </p:spPr>
        <p:txBody>
          <a:bodyPr wrap="square" anchor="t" lIns="0" rIns="0" tIns="0" bIns="0">
            <a:spAutoFit/>
          </a:bodyPr>
          <a:lstStyle/>
          <a:p>
            <a:pPr algn="l"/>
            <a:r>
              <a:rPr sz="1500" b="1" i="0">
                <a:solidFill>
                  <a:srgbClr val="1B1F2A"/>
                </a:solidFill>
                <a:latin typeface="Calibri"/>
              </a:rPr>
              <a:t>évaluations hors période d'emploi</a:t>
            </a:r>
          </a:p>
          <a:p>
            <a:pPr algn="l"/>
            <a:r>
              <a:rPr sz="1300" b="0" i="0">
                <a:solidFill>
                  <a:srgbClr val="5B6475"/>
                </a:solidFill>
                <a:latin typeface="Calibri"/>
              </a:rPr>
              <a:t>3 430 sur 18 000, avant l'embauche ou après le départ</a:t>
            </a:r>
          </a:p>
        </p:txBody>
      </p:sp>
      <p:sp>
        <p:nvSpPr>
          <p:cNvPr id="14" name="Rounded Rectangle 13"/>
          <p:cNvSpPr/>
          <p:nvPr/>
        </p:nvSpPr>
        <p:spPr>
          <a:xfrm>
            <a:off x="6190488" y="3703320"/>
            <a:ext cx="5449824" cy="1920240"/>
          </a:xfrm>
          <a:prstGeom prst="roundRect">
            <a:avLst>
              <a:gd name="adj" fmla="val 6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4807" y="3886200"/>
            <a:ext cx="4901184" cy="822960"/>
          </a:xfrm>
          <a:prstGeom prst="rect">
            <a:avLst/>
          </a:prstGeom>
          <a:noFill/>
        </p:spPr>
        <p:txBody>
          <a:bodyPr wrap="square" anchor="ctr" lIns="0" rIns="0" tIns="0" bIns="0">
            <a:spAutoFit/>
          </a:bodyPr>
          <a:lstStyle/>
          <a:p>
            <a:pPr algn="l"/>
            <a:r>
              <a:rPr sz="3600" b="1" i="0">
                <a:solidFill>
                  <a:srgbClr val="14213D"/>
                </a:solidFill>
                <a:latin typeface="Cambria"/>
              </a:rPr>
              <a:t>74,5 = 74,5</a:t>
            </a:r>
          </a:p>
        </p:txBody>
      </p:sp>
      <p:sp>
        <p:nvSpPr>
          <p:cNvPr id="16" name="TextBox 15"/>
          <p:cNvSpPr txBox="1"/>
          <p:nvPr/>
        </p:nvSpPr>
        <p:spPr>
          <a:xfrm>
            <a:off x="6464807" y="4754880"/>
            <a:ext cx="4901184" cy="731520"/>
          </a:xfrm>
          <a:prstGeom prst="rect">
            <a:avLst/>
          </a:prstGeom>
          <a:noFill/>
        </p:spPr>
        <p:txBody>
          <a:bodyPr wrap="square" anchor="t" lIns="0" rIns="0" tIns="0" bIns="0">
            <a:spAutoFit/>
          </a:bodyPr>
          <a:lstStyle/>
          <a:p>
            <a:pPr algn="l"/>
            <a:r>
              <a:rPr sz="1500" b="1" i="0">
                <a:solidFill>
                  <a:srgbClr val="1B1F2A"/>
                </a:solidFill>
                <a:latin typeface="Calibri"/>
              </a:rPr>
              <a:t>score identique, objectifs atteints ou non</a:t>
            </a:r>
          </a:p>
          <a:p>
            <a:pPr algn="l"/>
            <a:r>
              <a:rPr sz="1300" b="0" i="0">
                <a:solidFill>
                  <a:srgbClr val="5B6475"/>
                </a:solidFill>
                <a:latin typeface="Calibri"/>
              </a:rPr>
              <a:t>les deux indicateurs ne semblent pas liés</a:t>
            </a:r>
          </a:p>
        </p:txBody>
      </p:sp>
      <p:sp>
        <p:nvSpPr>
          <p:cNvPr id="17" name="TextBox 16"/>
          <p:cNvSpPr txBox="1"/>
          <p:nvPr/>
        </p:nvSpPr>
        <p:spPr>
          <a:xfrm>
            <a:off x="548640" y="5806440"/>
            <a:ext cx="11064240" cy="365760"/>
          </a:xfrm>
          <a:prstGeom prst="rect">
            <a:avLst/>
          </a:prstGeom>
          <a:noFill/>
        </p:spPr>
        <p:txBody>
          <a:bodyPr wrap="square" anchor="t" lIns="0" rIns="0" tIns="0" bIns="0">
            <a:spAutoFit/>
          </a:bodyPr>
          <a:lstStyle/>
          <a:p>
            <a:pPr algn="l"/>
            <a:r>
              <a:rPr sz="1300" b="0" i="1">
                <a:solidFill>
                  <a:srgbClr val="5B6475"/>
                </a:solidFill>
                <a:latin typeface="Calibri"/>
              </a:rPr>
              <a:t>Traitement retenu : table employés = source de vérité ; évaluations hors période exclues. Détail dans le README.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re"/>
          <p:cNvSpPr txBox="1"/>
          <p:nvPr/>
        </p:nvSpPr>
        <p:spPr>
          <a:xfrm>
            <a:off x="548640" y="411480"/>
            <a:ext cx="11064240" cy="1051560"/>
          </a:xfrm>
          <a:prstGeom prst="rect">
            <a:avLst/>
          </a:prstGeom>
          <a:noFill/>
        </p:spPr>
        <p:txBody>
          <a:bodyPr wrap="square" anchor="t" lIns="0" rIns="0" tIns="0" bIns="0">
            <a:spAutoFit/>
          </a:bodyPr>
          <a:lstStyle/>
          <a:p>
            <a:pPr algn="l"/>
            <a:r>
              <a:rPr sz="3000" b="1" i="0">
                <a:solidFill>
                  <a:srgbClr val="14213D"/>
                </a:solidFill>
                <a:latin typeface="Cambria"/>
              </a:rPr>
              <a:t>Cinq priorités pour la direction</a:t>
            </a:r>
          </a:p>
        </p:txBody>
      </p:sp>
      <p:sp>
        <p:nvSpPr>
          <p:cNvPr id="3" name="Pied de page"/>
          <p:cNvSpPr txBox="1"/>
          <p:nvPr/>
        </p:nvSpPr>
        <p:spPr>
          <a:xfrm>
            <a:off x="548640" y="6400800"/>
            <a:ext cx="7315200" cy="274320"/>
          </a:xfrm>
          <a:prstGeom prst="rect">
            <a:avLst/>
          </a:prstGeom>
          <a:noFill/>
        </p:spPr>
        <p:txBody>
          <a:bodyPr wrap="square" anchor="t" lIns="0" rIns="0" tIns="0" bIns="0">
            <a:spAutoFit/>
          </a:bodyPr>
          <a:lstStyle/>
          <a:p>
            <a:pPr algn="l"/>
            <a:r>
              <a:rPr sz="1000" b="0" i="0">
                <a:solidFill>
                  <a:srgbClr val="5B6475"/>
                </a:solidFill>
                <a:latin typeface="Calibri"/>
              </a:rPr>
              <a:t>DataLendo · RH Analytics · Octobre 2026</a:t>
            </a:r>
          </a:p>
        </p:txBody>
      </p:sp>
      <p:sp>
        <p:nvSpPr>
          <p:cNvPr id="4" name="Numéro"/>
          <p:cNvSpPr txBox="1"/>
          <p:nvPr/>
        </p:nvSpPr>
        <p:spPr>
          <a:xfrm>
            <a:off x="10698480" y="6400800"/>
            <a:ext cx="941832" cy="274320"/>
          </a:xfrm>
          <a:prstGeom prst="rect">
            <a:avLst/>
          </a:prstGeom>
          <a:noFill/>
        </p:spPr>
        <p:txBody>
          <a:bodyPr wrap="square" anchor="t" lIns="0" rIns="0" tIns="0" bIns="0">
            <a:spAutoFit/>
          </a:bodyPr>
          <a:lstStyle/>
          <a:p>
            <a:pPr algn="r"/>
            <a:r>
              <a:rPr sz="1000" b="0" i="0">
                <a:solidFill>
                  <a:srgbClr val="5B6475"/>
                </a:solidFill>
                <a:latin typeface="Calibri"/>
              </a:rPr>
              <a:t>10 / 12</a:t>
            </a:r>
          </a:p>
        </p:txBody>
      </p:sp>
      <p:sp>
        <p:nvSpPr>
          <p:cNvPr id="5" name="TextBox 4"/>
          <p:cNvSpPr txBox="1"/>
          <p:nvPr/>
        </p:nvSpPr>
        <p:spPr>
          <a:xfrm>
            <a:off x="548640" y="1508760"/>
            <a:ext cx="731520" cy="274320"/>
          </a:xfrm>
          <a:prstGeom prst="rect">
            <a:avLst/>
          </a:prstGeom>
          <a:noFill/>
        </p:spPr>
        <p:txBody>
          <a:bodyPr wrap="square" anchor="t" lIns="0" rIns="0" tIns="0" bIns="0">
            <a:spAutoFit/>
          </a:bodyPr>
          <a:lstStyle/>
          <a:p>
            <a:pPr algn="l"/>
            <a:r>
              <a:rPr sz="1200" b="1" i="0">
                <a:solidFill>
                  <a:srgbClr val="5B6475"/>
                </a:solidFill>
                <a:latin typeface="Calibri"/>
              </a:rPr>
              <a:t/>
            </a:r>
          </a:p>
        </p:txBody>
      </p:sp>
      <p:sp>
        <p:nvSpPr>
          <p:cNvPr id="6" name="TextBox 5"/>
          <p:cNvSpPr txBox="1"/>
          <p:nvPr/>
        </p:nvSpPr>
        <p:spPr>
          <a:xfrm>
            <a:off x="1280160" y="1508760"/>
            <a:ext cx="3611880" cy="274320"/>
          </a:xfrm>
          <a:prstGeom prst="rect">
            <a:avLst/>
          </a:prstGeom>
          <a:noFill/>
        </p:spPr>
        <p:txBody>
          <a:bodyPr wrap="square" anchor="t" lIns="0" rIns="0" tIns="0" bIns="0">
            <a:spAutoFit/>
          </a:bodyPr>
          <a:lstStyle/>
          <a:p>
            <a:pPr algn="l"/>
            <a:r>
              <a:rPr sz="1200" b="1" i="0">
                <a:solidFill>
                  <a:srgbClr val="5B6475"/>
                </a:solidFill>
                <a:latin typeface="Calibri"/>
              </a:rPr>
              <a:t>Action</a:t>
            </a:r>
          </a:p>
        </p:txBody>
      </p:sp>
      <p:sp>
        <p:nvSpPr>
          <p:cNvPr id="7" name="TextBox 6"/>
          <p:cNvSpPr txBox="1"/>
          <p:nvPr/>
        </p:nvSpPr>
        <p:spPr>
          <a:xfrm>
            <a:off x="4892040" y="1508760"/>
            <a:ext cx="5486400" cy="274320"/>
          </a:xfrm>
          <a:prstGeom prst="rect">
            <a:avLst/>
          </a:prstGeom>
          <a:noFill/>
        </p:spPr>
        <p:txBody>
          <a:bodyPr wrap="square" anchor="t" lIns="0" rIns="0" tIns="0" bIns="0">
            <a:spAutoFit/>
          </a:bodyPr>
          <a:lstStyle/>
          <a:p>
            <a:pPr algn="l"/>
            <a:r>
              <a:rPr sz="1200" b="1" i="0">
                <a:solidFill>
                  <a:srgbClr val="5B6475"/>
                </a:solidFill>
                <a:latin typeface="Calibri"/>
              </a:rPr>
              <a:t>Pourquoi (chiffre clé)</a:t>
            </a:r>
          </a:p>
        </p:txBody>
      </p:sp>
      <p:sp>
        <p:nvSpPr>
          <p:cNvPr id="8" name="TextBox 7"/>
          <p:cNvSpPr txBox="1"/>
          <p:nvPr/>
        </p:nvSpPr>
        <p:spPr>
          <a:xfrm>
            <a:off x="10378440" y="1508760"/>
            <a:ext cx="1261872" cy="274320"/>
          </a:xfrm>
          <a:prstGeom prst="rect">
            <a:avLst/>
          </a:prstGeom>
          <a:noFill/>
        </p:spPr>
        <p:txBody>
          <a:bodyPr wrap="square" anchor="t" lIns="0" rIns="0" tIns="0" bIns="0">
            <a:spAutoFit/>
          </a:bodyPr>
          <a:lstStyle/>
          <a:p>
            <a:pPr algn="l"/>
            <a:r>
              <a:rPr sz="1200" b="1" i="0">
                <a:solidFill>
                  <a:srgbClr val="5B6475"/>
                </a:solidFill>
                <a:latin typeface="Calibri"/>
              </a:rPr>
              <a:t>Horizon*</a:t>
            </a:r>
          </a:p>
        </p:txBody>
      </p:sp>
      <p:sp>
        <p:nvSpPr>
          <p:cNvPr id="9" name="Rounded Rectangle 8"/>
          <p:cNvSpPr/>
          <p:nvPr/>
        </p:nvSpPr>
        <p:spPr>
          <a:xfrm>
            <a:off x="548640" y="1828800"/>
            <a:ext cx="11091672" cy="768096"/>
          </a:xfrm>
          <a:prstGeom prst="roundRect">
            <a:avLst>
              <a:gd name="adj" fmla="val 6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ang 1"/>
          <p:cNvSpPr/>
          <p:nvPr/>
        </p:nvSpPr>
        <p:spPr>
          <a:xfrm>
            <a:off x="685800" y="1984248"/>
            <a:ext cx="457200" cy="457200"/>
          </a:xfrm>
          <a:prstGeom prst="ellipse">
            <a:avLst/>
          </a:prstGeom>
          <a:solidFill>
            <a:srgbClr val="E85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984248"/>
            <a:ext cx="457200" cy="457200"/>
          </a:xfrm>
          <a:prstGeom prst="rect">
            <a:avLst/>
          </a:prstGeom>
          <a:noFill/>
        </p:spPr>
        <p:txBody>
          <a:bodyPr wrap="square" anchor="ctr" lIns="0" rIns="0" tIns="0" bIns="0">
            <a:spAutoFit/>
          </a:bodyPr>
          <a:lstStyle/>
          <a:p>
            <a:pPr algn="ctr"/>
            <a:r>
              <a:rPr sz="1600" b="1" i="0">
                <a:solidFill>
                  <a:srgbClr val="FFFFFF"/>
                </a:solidFill>
                <a:latin typeface="Calibri"/>
              </a:rPr>
              <a:t>1</a:t>
            </a:r>
          </a:p>
        </p:txBody>
      </p:sp>
      <p:sp>
        <p:nvSpPr>
          <p:cNvPr id="12" name="TextBox 11"/>
          <p:cNvSpPr txBox="1"/>
          <p:nvPr/>
        </p:nvSpPr>
        <p:spPr>
          <a:xfrm>
            <a:off x="1280160" y="1828800"/>
            <a:ext cx="3474720" cy="768096"/>
          </a:xfrm>
          <a:prstGeom prst="rect">
            <a:avLst/>
          </a:prstGeom>
          <a:noFill/>
        </p:spPr>
        <p:txBody>
          <a:bodyPr wrap="square" anchor="ctr" lIns="0" rIns="0" tIns="0" bIns="0">
            <a:spAutoFit/>
          </a:bodyPr>
          <a:lstStyle/>
          <a:p>
            <a:pPr algn="l"/>
            <a:r>
              <a:rPr sz="1600" b="1" i="0">
                <a:solidFill>
                  <a:srgbClr val="14213D"/>
                </a:solidFill>
                <a:latin typeface="Calibri"/>
              </a:rPr>
              <a:t>Relancer le cycle d'évaluation</a:t>
            </a:r>
          </a:p>
        </p:txBody>
      </p:sp>
      <p:sp>
        <p:nvSpPr>
          <p:cNvPr id="13" name="TextBox 12"/>
          <p:cNvSpPr txBox="1"/>
          <p:nvPr/>
        </p:nvSpPr>
        <p:spPr>
          <a:xfrm>
            <a:off x="4892040" y="1828800"/>
            <a:ext cx="5303520" cy="768096"/>
          </a:xfrm>
          <a:prstGeom prst="rect">
            <a:avLst/>
          </a:prstGeom>
          <a:noFill/>
        </p:spPr>
        <p:txBody>
          <a:bodyPr wrap="square" anchor="ctr" lIns="0" rIns="0" tIns="0" bIns="0">
            <a:spAutoFit/>
          </a:bodyPr>
          <a:lstStyle/>
          <a:p>
            <a:pPr algn="l"/>
            <a:r>
              <a:rPr sz="1300" b="0" i="0">
                <a:solidFill>
                  <a:srgbClr val="1B1F2A"/>
                </a:solidFill>
                <a:latin typeface="Calibri"/>
              </a:rPr>
              <a:t>739 jours sans feedback ; 228 profils faibles à accompagner, 345 profils élevés à reconnaître</a:t>
            </a:r>
          </a:p>
        </p:txBody>
      </p:sp>
      <p:sp>
        <p:nvSpPr>
          <p:cNvPr id="14" name="TextBox 13"/>
          <p:cNvSpPr txBox="1"/>
          <p:nvPr/>
        </p:nvSpPr>
        <p:spPr>
          <a:xfrm>
            <a:off x="10378440" y="1828800"/>
            <a:ext cx="1143000" cy="768096"/>
          </a:xfrm>
          <a:prstGeom prst="rect">
            <a:avLst/>
          </a:prstGeom>
          <a:noFill/>
        </p:spPr>
        <p:txBody>
          <a:bodyPr wrap="square" anchor="ctr" lIns="0" rIns="0" tIns="0" bIns="0">
            <a:spAutoFit/>
          </a:bodyPr>
          <a:lstStyle/>
          <a:p>
            <a:pPr algn="l"/>
            <a:r>
              <a:rPr sz="1400" b="1" i="0">
                <a:solidFill>
                  <a:srgbClr val="E8553A"/>
                </a:solidFill>
                <a:latin typeface="Calibri"/>
              </a:rPr>
              <a:t>30 jours</a:t>
            </a:r>
          </a:p>
        </p:txBody>
      </p:sp>
      <p:sp>
        <p:nvSpPr>
          <p:cNvPr id="15" name="Rounded Rectangle 14"/>
          <p:cNvSpPr/>
          <p:nvPr/>
        </p:nvSpPr>
        <p:spPr>
          <a:xfrm>
            <a:off x="548640" y="2688336"/>
            <a:ext cx="11091672" cy="768096"/>
          </a:xfrm>
          <a:prstGeom prst="roundRect">
            <a:avLst>
              <a:gd name="adj" fmla="val 6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ang 2"/>
          <p:cNvSpPr/>
          <p:nvPr/>
        </p:nvSpPr>
        <p:spPr>
          <a:xfrm>
            <a:off x="685800" y="2843784"/>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2843784"/>
            <a:ext cx="457200" cy="457200"/>
          </a:xfrm>
          <a:prstGeom prst="rect">
            <a:avLst/>
          </a:prstGeom>
          <a:noFill/>
        </p:spPr>
        <p:txBody>
          <a:bodyPr wrap="square" anchor="ctr" lIns="0" rIns="0" tIns="0" bIns="0">
            <a:spAutoFit/>
          </a:bodyPr>
          <a:lstStyle/>
          <a:p>
            <a:pPr algn="ctr"/>
            <a:r>
              <a:rPr sz="1600" b="1" i="0">
                <a:solidFill>
                  <a:srgbClr val="FFFFFF"/>
                </a:solidFill>
                <a:latin typeface="Calibri"/>
              </a:rPr>
              <a:t>2</a:t>
            </a:r>
          </a:p>
        </p:txBody>
      </p:sp>
      <p:sp>
        <p:nvSpPr>
          <p:cNvPr id="18" name="TextBox 17"/>
          <p:cNvSpPr txBox="1"/>
          <p:nvPr/>
        </p:nvSpPr>
        <p:spPr>
          <a:xfrm>
            <a:off x="1280160" y="2688336"/>
            <a:ext cx="3474720" cy="768096"/>
          </a:xfrm>
          <a:prstGeom prst="rect">
            <a:avLst/>
          </a:prstGeom>
          <a:noFill/>
        </p:spPr>
        <p:txBody>
          <a:bodyPr wrap="square" anchor="ctr" lIns="0" rIns="0" tIns="0" bIns="0">
            <a:spAutoFit/>
          </a:bodyPr>
          <a:lstStyle/>
          <a:p>
            <a:pPr algn="l"/>
            <a:r>
              <a:rPr sz="1600" b="1" i="0">
                <a:solidFill>
                  <a:srgbClr val="14213D"/>
                </a:solidFill>
                <a:latin typeface="Calibri"/>
              </a:rPr>
              <a:t>Fiabiliser les données RH</a:t>
            </a:r>
          </a:p>
        </p:txBody>
      </p:sp>
      <p:sp>
        <p:nvSpPr>
          <p:cNvPr id="19" name="TextBox 18"/>
          <p:cNvSpPr txBox="1"/>
          <p:nvPr/>
        </p:nvSpPr>
        <p:spPr>
          <a:xfrm>
            <a:off x="4892040" y="2688336"/>
            <a:ext cx="5303520" cy="768096"/>
          </a:xfrm>
          <a:prstGeom prst="rect">
            <a:avLst/>
          </a:prstGeom>
          <a:noFill/>
        </p:spPr>
        <p:txBody>
          <a:bodyPr wrap="square" anchor="ctr" lIns="0" rIns="0" tIns="0" bIns="0">
            <a:spAutoFit/>
          </a:bodyPr>
          <a:lstStyle/>
          <a:p>
            <a:pPr algn="l"/>
            <a:r>
              <a:rPr sz="1300" b="0" i="0">
                <a:solidFill>
                  <a:srgbClr val="1B1F2A"/>
                </a:solidFill>
                <a:latin typeface="Calibri"/>
              </a:rPr>
              <a:t>19 % d'évaluations hors période ; dates de départ contradictoires</a:t>
            </a:r>
          </a:p>
        </p:txBody>
      </p:sp>
      <p:sp>
        <p:nvSpPr>
          <p:cNvPr id="20" name="TextBox 19"/>
          <p:cNvSpPr txBox="1"/>
          <p:nvPr/>
        </p:nvSpPr>
        <p:spPr>
          <a:xfrm>
            <a:off x="10378440" y="2688336"/>
            <a:ext cx="1143000" cy="768096"/>
          </a:xfrm>
          <a:prstGeom prst="rect">
            <a:avLst/>
          </a:prstGeom>
          <a:noFill/>
        </p:spPr>
        <p:txBody>
          <a:bodyPr wrap="square" anchor="ctr" lIns="0" rIns="0" tIns="0" bIns="0">
            <a:spAutoFit/>
          </a:bodyPr>
          <a:lstStyle/>
          <a:p>
            <a:pPr algn="l"/>
            <a:r>
              <a:rPr sz="1400" b="1" i="0">
                <a:solidFill>
                  <a:srgbClr val="14213D"/>
                </a:solidFill>
                <a:latin typeface="Calibri"/>
              </a:rPr>
              <a:t>90 jours</a:t>
            </a:r>
          </a:p>
        </p:txBody>
      </p:sp>
      <p:sp>
        <p:nvSpPr>
          <p:cNvPr id="21" name="Rounded Rectangle 20"/>
          <p:cNvSpPr/>
          <p:nvPr/>
        </p:nvSpPr>
        <p:spPr>
          <a:xfrm>
            <a:off x="548640" y="3547872"/>
            <a:ext cx="11091672" cy="768096"/>
          </a:xfrm>
          <a:prstGeom prst="roundRect">
            <a:avLst>
              <a:gd name="adj" fmla="val 6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ang 3"/>
          <p:cNvSpPr/>
          <p:nvPr/>
        </p:nvSpPr>
        <p:spPr>
          <a:xfrm>
            <a:off x="685800" y="3703320"/>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3703320"/>
            <a:ext cx="457200" cy="457200"/>
          </a:xfrm>
          <a:prstGeom prst="rect">
            <a:avLst/>
          </a:prstGeom>
          <a:noFill/>
        </p:spPr>
        <p:txBody>
          <a:bodyPr wrap="square" anchor="ctr" lIns="0" rIns="0" tIns="0" bIns="0">
            <a:spAutoFit/>
          </a:bodyPr>
          <a:lstStyle/>
          <a:p>
            <a:pPr algn="ctr"/>
            <a:r>
              <a:rPr sz="1600" b="1" i="0">
                <a:solidFill>
                  <a:srgbClr val="FFFFFF"/>
                </a:solidFill>
                <a:latin typeface="Calibri"/>
              </a:rPr>
              <a:t>3</a:t>
            </a:r>
          </a:p>
        </p:txBody>
      </p:sp>
      <p:sp>
        <p:nvSpPr>
          <p:cNvPr id="24" name="TextBox 23"/>
          <p:cNvSpPr txBox="1"/>
          <p:nvPr/>
        </p:nvSpPr>
        <p:spPr>
          <a:xfrm>
            <a:off x="1280160" y="3547872"/>
            <a:ext cx="3474720" cy="768096"/>
          </a:xfrm>
          <a:prstGeom prst="rect">
            <a:avLst/>
          </a:prstGeom>
          <a:noFill/>
        </p:spPr>
        <p:txBody>
          <a:bodyPr wrap="square" anchor="ctr" lIns="0" rIns="0" tIns="0" bIns="0">
            <a:spAutoFit/>
          </a:bodyPr>
          <a:lstStyle/>
          <a:p>
            <a:pPr algn="l"/>
            <a:r>
              <a:rPr sz="1600" b="1" i="0">
                <a:solidFill>
                  <a:srgbClr val="14213D"/>
                </a:solidFill>
                <a:latin typeface="Calibri"/>
              </a:rPr>
              <a:t>Comprendre les départs involontaires</a:t>
            </a:r>
          </a:p>
        </p:txBody>
      </p:sp>
      <p:sp>
        <p:nvSpPr>
          <p:cNvPr id="25" name="TextBox 24"/>
          <p:cNvSpPr txBox="1"/>
          <p:nvPr/>
        </p:nvSpPr>
        <p:spPr>
          <a:xfrm>
            <a:off x="4892040" y="3547872"/>
            <a:ext cx="5303520" cy="768096"/>
          </a:xfrm>
          <a:prstGeom prst="rect">
            <a:avLst/>
          </a:prstGeom>
          <a:noFill/>
        </p:spPr>
        <p:txBody>
          <a:bodyPr wrap="square" anchor="ctr" lIns="0" rIns="0" tIns="0" bIns="0">
            <a:spAutoFit/>
          </a:bodyPr>
          <a:lstStyle/>
          <a:p>
            <a:pPr algn="l"/>
            <a:r>
              <a:rPr sz="1300" b="0" i="0">
                <a:solidFill>
                  <a:srgbClr val="1B1F2A"/>
                </a:solidFill>
                <a:latin typeface="Calibri"/>
              </a:rPr>
              <a:t>50 % des départs ; ajouter les motifs de départ aux données</a:t>
            </a:r>
          </a:p>
        </p:txBody>
      </p:sp>
      <p:sp>
        <p:nvSpPr>
          <p:cNvPr id="26" name="TextBox 25"/>
          <p:cNvSpPr txBox="1"/>
          <p:nvPr/>
        </p:nvSpPr>
        <p:spPr>
          <a:xfrm>
            <a:off x="10378440" y="3547872"/>
            <a:ext cx="1143000" cy="768096"/>
          </a:xfrm>
          <a:prstGeom prst="rect">
            <a:avLst/>
          </a:prstGeom>
          <a:noFill/>
        </p:spPr>
        <p:txBody>
          <a:bodyPr wrap="square" anchor="ctr" lIns="0" rIns="0" tIns="0" bIns="0">
            <a:spAutoFit/>
          </a:bodyPr>
          <a:lstStyle/>
          <a:p>
            <a:pPr algn="l"/>
            <a:r>
              <a:rPr sz="1400" b="1" i="0">
                <a:solidFill>
                  <a:srgbClr val="14213D"/>
                </a:solidFill>
                <a:latin typeface="Calibri"/>
              </a:rPr>
              <a:t>90 jours</a:t>
            </a:r>
          </a:p>
        </p:txBody>
      </p:sp>
      <p:sp>
        <p:nvSpPr>
          <p:cNvPr id="27" name="Rounded Rectangle 26"/>
          <p:cNvSpPr/>
          <p:nvPr/>
        </p:nvSpPr>
        <p:spPr>
          <a:xfrm>
            <a:off x="548640" y="4407408"/>
            <a:ext cx="11091672" cy="768096"/>
          </a:xfrm>
          <a:prstGeom prst="roundRect">
            <a:avLst>
              <a:gd name="adj" fmla="val 6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ang 4"/>
          <p:cNvSpPr/>
          <p:nvPr/>
        </p:nvSpPr>
        <p:spPr>
          <a:xfrm>
            <a:off x="685800" y="4562856"/>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4562856"/>
            <a:ext cx="457200" cy="457200"/>
          </a:xfrm>
          <a:prstGeom prst="rect">
            <a:avLst/>
          </a:prstGeom>
          <a:noFill/>
        </p:spPr>
        <p:txBody>
          <a:bodyPr wrap="square" anchor="ctr" lIns="0" rIns="0" tIns="0" bIns="0">
            <a:spAutoFit/>
          </a:bodyPr>
          <a:lstStyle/>
          <a:p>
            <a:pPr algn="ctr"/>
            <a:r>
              <a:rPr sz="1600" b="1" i="0">
                <a:solidFill>
                  <a:srgbClr val="FFFFFF"/>
                </a:solidFill>
                <a:latin typeface="Calibri"/>
              </a:rPr>
              <a:t>4</a:t>
            </a:r>
          </a:p>
        </p:txBody>
      </p:sp>
      <p:sp>
        <p:nvSpPr>
          <p:cNvPr id="30" name="TextBox 29"/>
          <p:cNvSpPr txBox="1"/>
          <p:nvPr/>
        </p:nvSpPr>
        <p:spPr>
          <a:xfrm>
            <a:off x="1280160" y="4407408"/>
            <a:ext cx="3474720" cy="768096"/>
          </a:xfrm>
          <a:prstGeom prst="rect">
            <a:avLst/>
          </a:prstGeom>
          <a:noFill/>
        </p:spPr>
        <p:txBody>
          <a:bodyPr wrap="square" anchor="ctr" lIns="0" rIns="0" tIns="0" bIns="0">
            <a:spAutoFit/>
          </a:bodyPr>
          <a:lstStyle/>
          <a:p>
            <a:pPr algn="l"/>
            <a:r>
              <a:rPr sz="1600" b="1" i="0">
                <a:solidFill>
                  <a:srgbClr val="14213D"/>
                </a:solidFill>
                <a:latin typeface="Calibri"/>
              </a:rPr>
              <a:t>Relier rémunération et performance</a:t>
            </a:r>
          </a:p>
        </p:txBody>
      </p:sp>
      <p:sp>
        <p:nvSpPr>
          <p:cNvPr id="31" name="TextBox 30"/>
          <p:cNvSpPr txBox="1"/>
          <p:nvPr/>
        </p:nvSpPr>
        <p:spPr>
          <a:xfrm>
            <a:off x="4892040" y="4407408"/>
            <a:ext cx="5303520" cy="768096"/>
          </a:xfrm>
          <a:prstGeom prst="rect">
            <a:avLst/>
          </a:prstGeom>
          <a:noFill/>
        </p:spPr>
        <p:txBody>
          <a:bodyPr wrap="square" anchor="ctr" lIns="0" rIns="0" tIns="0" bIns="0">
            <a:spAutoFit/>
          </a:bodyPr>
          <a:lstStyle/>
          <a:p>
            <a:pPr algn="l"/>
            <a:r>
              <a:rPr sz="1300" b="0" i="0">
                <a:solidFill>
                  <a:srgbClr val="1B1F2A"/>
                </a:solidFill>
                <a:latin typeface="Calibri"/>
              </a:rPr>
              <a:t>Corrélation de −0,01 ; grille par poste et part variable à étudier</a:t>
            </a:r>
          </a:p>
        </p:txBody>
      </p:sp>
      <p:sp>
        <p:nvSpPr>
          <p:cNvPr id="32" name="TextBox 31"/>
          <p:cNvSpPr txBox="1"/>
          <p:nvPr/>
        </p:nvSpPr>
        <p:spPr>
          <a:xfrm>
            <a:off x="10378440" y="4407408"/>
            <a:ext cx="1143000" cy="768096"/>
          </a:xfrm>
          <a:prstGeom prst="rect">
            <a:avLst/>
          </a:prstGeom>
          <a:noFill/>
        </p:spPr>
        <p:txBody>
          <a:bodyPr wrap="square" anchor="ctr" lIns="0" rIns="0" tIns="0" bIns="0">
            <a:spAutoFit/>
          </a:bodyPr>
          <a:lstStyle/>
          <a:p>
            <a:pPr algn="l"/>
            <a:r>
              <a:rPr sz="1400" b="1" i="0">
                <a:solidFill>
                  <a:srgbClr val="14213D"/>
                </a:solidFill>
                <a:latin typeface="Calibri"/>
              </a:rPr>
              <a:t>6 mois</a:t>
            </a:r>
          </a:p>
        </p:txBody>
      </p:sp>
      <p:sp>
        <p:nvSpPr>
          <p:cNvPr id="33" name="Rounded Rectangle 32"/>
          <p:cNvSpPr/>
          <p:nvPr/>
        </p:nvSpPr>
        <p:spPr>
          <a:xfrm>
            <a:off x="548640" y="5266944"/>
            <a:ext cx="11091672" cy="768096"/>
          </a:xfrm>
          <a:prstGeom prst="roundRect">
            <a:avLst>
              <a:gd name="adj" fmla="val 6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ang 5"/>
          <p:cNvSpPr/>
          <p:nvPr/>
        </p:nvSpPr>
        <p:spPr>
          <a:xfrm>
            <a:off x="685800" y="5422392"/>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5800" y="5422392"/>
            <a:ext cx="457200" cy="457200"/>
          </a:xfrm>
          <a:prstGeom prst="rect">
            <a:avLst/>
          </a:prstGeom>
          <a:noFill/>
        </p:spPr>
        <p:txBody>
          <a:bodyPr wrap="square" anchor="ctr" lIns="0" rIns="0" tIns="0" bIns="0">
            <a:spAutoFit/>
          </a:bodyPr>
          <a:lstStyle/>
          <a:p>
            <a:pPr algn="ctr"/>
            <a:r>
              <a:rPr sz="1600" b="1" i="0">
                <a:solidFill>
                  <a:srgbClr val="FFFFFF"/>
                </a:solidFill>
                <a:latin typeface="Calibri"/>
              </a:rPr>
              <a:t>5</a:t>
            </a:r>
          </a:p>
        </p:txBody>
      </p:sp>
      <p:sp>
        <p:nvSpPr>
          <p:cNvPr id="36" name="TextBox 35"/>
          <p:cNvSpPr txBox="1"/>
          <p:nvPr/>
        </p:nvSpPr>
        <p:spPr>
          <a:xfrm>
            <a:off x="1280160" y="5266944"/>
            <a:ext cx="3474720" cy="768096"/>
          </a:xfrm>
          <a:prstGeom prst="rect">
            <a:avLst/>
          </a:prstGeom>
          <a:noFill/>
        </p:spPr>
        <p:txBody>
          <a:bodyPr wrap="square" anchor="ctr" lIns="0" rIns="0" tIns="0" bIns="0">
            <a:spAutoFit/>
          </a:bodyPr>
          <a:lstStyle/>
          <a:p>
            <a:pPr algn="l"/>
            <a:r>
              <a:rPr sz="1600" b="1" i="0">
                <a:solidFill>
                  <a:srgbClr val="14213D"/>
                </a:solidFill>
                <a:latin typeface="Calibri"/>
              </a:rPr>
              <a:t>Fixer une politique de recrutement</a:t>
            </a:r>
          </a:p>
        </p:txBody>
      </p:sp>
      <p:sp>
        <p:nvSpPr>
          <p:cNvPr id="37" name="TextBox 36"/>
          <p:cNvSpPr txBox="1"/>
          <p:nvPr/>
        </p:nvSpPr>
        <p:spPr>
          <a:xfrm>
            <a:off x="4892040" y="5266944"/>
            <a:ext cx="5303520" cy="768096"/>
          </a:xfrm>
          <a:prstGeom prst="rect">
            <a:avLst/>
          </a:prstGeom>
          <a:noFill/>
        </p:spPr>
        <p:txBody>
          <a:bodyPr wrap="square" anchor="ctr" lIns="0" rIns="0" tIns="0" bIns="0">
            <a:spAutoFit/>
          </a:bodyPr>
          <a:lstStyle/>
          <a:p>
            <a:pPr algn="l"/>
            <a:r>
              <a:rPr sz="1300" b="0" i="0">
                <a:solidFill>
                  <a:srgbClr val="1B1F2A"/>
                </a:solidFill>
                <a:latin typeface="Calibri"/>
              </a:rPr>
              <a:t>Aucune embauche depuis déc. 2023 ; 29 départs planifiés à anticiper</a:t>
            </a:r>
          </a:p>
        </p:txBody>
      </p:sp>
      <p:sp>
        <p:nvSpPr>
          <p:cNvPr id="38" name="TextBox 37"/>
          <p:cNvSpPr txBox="1"/>
          <p:nvPr/>
        </p:nvSpPr>
        <p:spPr>
          <a:xfrm>
            <a:off x="10378440" y="5266944"/>
            <a:ext cx="1143000" cy="768096"/>
          </a:xfrm>
          <a:prstGeom prst="rect">
            <a:avLst/>
          </a:prstGeom>
          <a:noFill/>
        </p:spPr>
        <p:txBody>
          <a:bodyPr wrap="square" anchor="ctr" lIns="0" rIns="0" tIns="0" bIns="0">
            <a:spAutoFit/>
          </a:bodyPr>
          <a:lstStyle/>
          <a:p>
            <a:pPr algn="l"/>
            <a:r>
              <a:rPr sz="1400" b="1" i="0">
                <a:solidFill>
                  <a:srgbClr val="14213D"/>
                </a:solidFill>
                <a:latin typeface="Calibri"/>
              </a:rPr>
              <a:t>6 mois</a:t>
            </a:r>
          </a:p>
        </p:txBody>
      </p:sp>
      <p:sp>
        <p:nvSpPr>
          <p:cNvPr id="39" name="TextBox 38"/>
          <p:cNvSpPr txBox="1"/>
          <p:nvPr/>
        </p:nvSpPr>
        <p:spPr>
          <a:xfrm>
            <a:off x="548640" y="6126480"/>
            <a:ext cx="11064240" cy="274320"/>
          </a:xfrm>
          <a:prstGeom prst="rect">
            <a:avLst/>
          </a:prstGeom>
          <a:noFill/>
        </p:spPr>
        <p:txBody>
          <a:bodyPr wrap="square" anchor="t" lIns="0" rIns="0" tIns="0" bIns="0">
            <a:spAutoFit/>
          </a:bodyPr>
          <a:lstStyle/>
          <a:p>
            <a:pPr algn="l"/>
            <a:r>
              <a:rPr sz="1100" b="0" i="1">
                <a:solidFill>
                  <a:srgbClr val="5B6475"/>
                </a:solidFill>
                <a:latin typeface="Calibri"/>
              </a:rPr>
              <a:t>* Horizons proposés à titre indicatif, à valider avec les responsables concernés.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itre"/>
          <p:cNvSpPr txBox="1"/>
          <p:nvPr/>
        </p:nvSpPr>
        <p:spPr>
          <a:xfrm>
            <a:off x="548640" y="411480"/>
            <a:ext cx="11064240" cy="1051560"/>
          </a:xfrm>
          <a:prstGeom prst="rect">
            <a:avLst/>
          </a:prstGeom>
          <a:noFill/>
        </p:spPr>
        <p:txBody>
          <a:bodyPr wrap="square" anchor="t" lIns="0" rIns="0" tIns="0" bIns="0">
            <a:spAutoFit/>
          </a:bodyPr>
          <a:lstStyle/>
          <a:p>
            <a:pPr algn="l"/>
            <a:r>
              <a:rPr sz="3000" b="1" i="0">
                <a:solidFill>
                  <a:srgbClr val="FFFFFF"/>
                </a:solidFill>
                <a:latin typeface="Cambria"/>
              </a:rPr>
              <a:t>Trois décisions attendues aujourd'hui</a:t>
            </a:r>
          </a:p>
        </p:txBody>
      </p:sp>
      <p:sp>
        <p:nvSpPr>
          <p:cNvPr id="3" name="Pied de page"/>
          <p:cNvSpPr txBox="1"/>
          <p:nvPr/>
        </p:nvSpPr>
        <p:spPr>
          <a:xfrm>
            <a:off x="548640" y="6400800"/>
            <a:ext cx="7315200" cy="274320"/>
          </a:xfrm>
          <a:prstGeom prst="rect">
            <a:avLst/>
          </a:prstGeom>
          <a:noFill/>
        </p:spPr>
        <p:txBody>
          <a:bodyPr wrap="square" anchor="t" lIns="0" rIns="0" tIns="0" bIns="0">
            <a:spAutoFit/>
          </a:bodyPr>
          <a:lstStyle/>
          <a:p>
            <a:pPr algn="l"/>
            <a:r>
              <a:rPr sz="1000" b="0" i="0">
                <a:solidFill>
                  <a:srgbClr val="9FB0CF"/>
                </a:solidFill>
                <a:latin typeface="Calibri"/>
              </a:rPr>
              <a:t>DataLendo · RH Analytics · Octobre 2026</a:t>
            </a:r>
          </a:p>
        </p:txBody>
      </p:sp>
      <p:sp>
        <p:nvSpPr>
          <p:cNvPr id="4" name="Numéro"/>
          <p:cNvSpPr txBox="1"/>
          <p:nvPr/>
        </p:nvSpPr>
        <p:spPr>
          <a:xfrm>
            <a:off x="10698480" y="6400800"/>
            <a:ext cx="941832" cy="274320"/>
          </a:xfrm>
          <a:prstGeom prst="rect">
            <a:avLst/>
          </a:prstGeom>
          <a:noFill/>
        </p:spPr>
        <p:txBody>
          <a:bodyPr wrap="square" anchor="t" lIns="0" rIns="0" tIns="0" bIns="0">
            <a:spAutoFit/>
          </a:bodyPr>
          <a:lstStyle/>
          <a:p>
            <a:pPr algn="r"/>
            <a:r>
              <a:rPr sz="1000" b="0" i="0">
                <a:solidFill>
                  <a:srgbClr val="9FB0CF"/>
                </a:solidFill>
                <a:latin typeface="Calibri"/>
              </a:rPr>
              <a:t>11 / 12</a:t>
            </a:r>
          </a:p>
        </p:txBody>
      </p:sp>
      <p:sp>
        <p:nvSpPr>
          <p:cNvPr id="5" name="Rounded Rectangle 4"/>
          <p:cNvSpPr/>
          <p:nvPr/>
        </p:nvSpPr>
        <p:spPr>
          <a:xfrm>
            <a:off x="548640" y="1737360"/>
            <a:ext cx="11091672" cy="1143000"/>
          </a:xfrm>
          <a:prstGeom prst="roundRect">
            <a:avLst>
              <a:gd name="adj" fmla="val 6000"/>
            </a:avLst>
          </a:prstGeom>
          <a:solidFill>
            <a:srgbClr val="1F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écision 1"/>
          <p:cNvSpPr/>
          <p:nvPr/>
        </p:nvSpPr>
        <p:spPr>
          <a:xfrm>
            <a:off x="822960" y="1993391"/>
            <a:ext cx="640080" cy="640080"/>
          </a:xfrm>
          <a:prstGeom prst="ellipse">
            <a:avLst/>
          </a:prstGeom>
          <a:solidFill>
            <a:srgbClr val="E85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993391"/>
            <a:ext cx="640080" cy="640080"/>
          </a:xfrm>
          <a:prstGeom prst="rect">
            <a:avLst/>
          </a:prstGeom>
          <a:noFill/>
        </p:spPr>
        <p:txBody>
          <a:bodyPr wrap="square" anchor="ctr" lIns="0" rIns="0" tIns="0" bIns="0">
            <a:spAutoFit/>
          </a:bodyPr>
          <a:lstStyle/>
          <a:p>
            <a:pPr algn="ctr"/>
            <a:r>
              <a:rPr sz="2400" b="1" i="0">
                <a:solidFill>
                  <a:srgbClr val="FFFFFF"/>
                </a:solidFill>
                <a:latin typeface="Cambria"/>
              </a:rPr>
              <a:t>1</a:t>
            </a:r>
          </a:p>
        </p:txBody>
      </p:sp>
      <p:sp>
        <p:nvSpPr>
          <p:cNvPr id="8" name="TextBox 7"/>
          <p:cNvSpPr txBox="1"/>
          <p:nvPr/>
        </p:nvSpPr>
        <p:spPr>
          <a:xfrm>
            <a:off x="1783080" y="1920240"/>
            <a:ext cx="9509760" cy="457200"/>
          </a:xfrm>
          <a:prstGeom prst="rect">
            <a:avLst/>
          </a:prstGeom>
          <a:noFill/>
        </p:spPr>
        <p:txBody>
          <a:bodyPr wrap="square" anchor="t" lIns="0" rIns="0" tIns="0" bIns="0">
            <a:spAutoFit/>
          </a:bodyPr>
          <a:lstStyle/>
          <a:p>
            <a:pPr algn="l"/>
            <a:r>
              <a:rPr sz="2200" b="1" i="0">
                <a:solidFill>
                  <a:srgbClr val="FFFFFF"/>
                </a:solidFill>
                <a:latin typeface="Cambria"/>
              </a:rPr>
              <a:t>Mandater la relance des évaluations</a:t>
            </a:r>
          </a:p>
        </p:txBody>
      </p:sp>
      <p:sp>
        <p:nvSpPr>
          <p:cNvPr id="9" name="TextBox 8"/>
          <p:cNvSpPr txBox="1"/>
          <p:nvPr/>
        </p:nvSpPr>
        <p:spPr>
          <a:xfrm>
            <a:off x="1783080" y="2395728"/>
            <a:ext cx="9509760" cy="365760"/>
          </a:xfrm>
          <a:prstGeom prst="rect">
            <a:avLst/>
          </a:prstGeom>
          <a:noFill/>
        </p:spPr>
        <p:txBody>
          <a:bodyPr wrap="square" anchor="t" lIns="0" rIns="0" tIns="0" bIns="0">
            <a:spAutoFit/>
          </a:bodyPr>
          <a:lstStyle/>
          <a:p>
            <a:pPr algn="l"/>
            <a:r>
              <a:rPr sz="1500" b="0" i="0">
                <a:solidFill>
                  <a:srgbClr val="CADCFC"/>
                </a:solidFill>
                <a:latin typeface="Calibri"/>
              </a:rPr>
              <a:t>Désigner un responsable et une date de fin de campagne.</a:t>
            </a:r>
          </a:p>
        </p:txBody>
      </p:sp>
      <p:sp>
        <p:nvSpPr>
          <p:cNvPr id="10" name="Rounded Rectangle 9"/>
          <p:cNvSpPr/>
          <p:nvPr/>
        </p:nvSpPr>
        <p:spPr>
          <a:xfrm>
            <a:off x="548640" y="3108960"/>
            <a:ext cx="11091672" cy="1143000"/>
          </a:xfrm>
          <a:prstGeom prst="roundRect">
            <a:avLst>
              <a:gd name="adj" fmla="val 6000"/>
            </a:avLst>
          </a:prstGeom>
          <a:solidFill>
            <a:srgbClr val="1F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écision 2"/>
          <p:cNvSpPr/>
          <p:nvPr/>
        </p:nvSpPr>
        <p:spPr>
          <a:xfrm>
            <a:off x="822960" y="3364991"/>
            <a:ext cx="640080" cy="640080"/>
          </a:xfrm>
          <a:prstGeom prst="ellipse">
            <a:avLst/>
          </a:prstGeom>
          <a:solidFill>
            <a:srgbClr val="E85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3364991"/>
            <a:ext cx="640080" cy="640080"/>
          </a:xfrm>
          <a:prstGeom prst="rect">
            <a:avLst/>
          </a:prstGeom>
          <a:noFill/>
        </p:spPr>
        <p:txBody>
          <a:bodyPr wrap="square" anchor="ctr" lIns="0" rIns="0" tIns="0" bIns="0">
            <a:spAutoFit/>
          </a:bodyPr>
          <a:lstStyle/>
          <a:p>
            <a:pPr algn="ctr"/>
            <a:r>
              <a:rPr sz="2400" b="1" i="0">
                <a:solidFill>
                  <a:srgbClr val="FFFFFF"/>
                </a:solidFill>
                <a:latin typeface="Cambria"/>
              </a:rPr>
              <a:t>2</a:t>
            </a:r>
          </a:p>
        </p:txBody>
      </p:sp>
      <p:sp>
        <p:nvSpPr>
          <p:cNvPr id="13" name="TextBox 12"/>
          <p:cNvSpPr txBox="1"/>
          <p:nvPr/>
        </p:nvSpPr>
        <p:spPr>
          <a:xfrm>
            <a:off x="1783080" y="3291840"/>
            <a:ext cx="9509760" cy="457200"/>
          </a:xfrm>
          <a:prstGeom prst="rect">
            <a:avLst/>
          </a:prstGeom>
          <a:noFill/>
        </p:spPr>
        <p:txBody>
          <a:bodyPr wrap="square" anchor="t" lIns="0" rIns="0" tIns="0" bIns="0">
            <a:spAutoFit/>
          </a:bodyPr>
          <a:lstStyle/>
          <a:p>
            <a:pPr algn="l"/>
            <a:r>
              <a:rPr sz="2200" b="1" i="0">
                <a:solidFill>
                  <a:srgbClr val="FFFFFF"/>
                </a:solidFill>
                <a:latin typeface="Cambria"/>
              </a:rPr>
              <a:t>Lancer le chantier « données RH »</a:t>
            </a:r>
          </a:p>
        </p:txBody>
      </p:sp>
      <p:sp>
        <p:nvSpPr>
          <p:cNvPr id="14" name="TextBox 13"/>
          <p:cNvSpPr txBox="1"/>
          <p:nvPr/>
        </p:nvSpPr>
        <p:spPr>
          <a:xfrm>
            <a:off x="1783080" y="3767328"/>
            <a:ext cx="9509760" cy="365760"/>
          </a:xfrm>
          <a:prstGeom prst="rect">
            <a:avLst/>
          </a:prstGeom>
          <a:noFill/>
        </p:spPr>
        <p:txBody>
          <a:bodyPr wrap="square" anchor="t" lIns="0" rIns="0" tIns="0" bIns="0">
            <a:spAutoFit/>
          </a:bodyPr>
          <a:lstStyle/>
          <a:p>
            <a:pPr algn="l"/>
            <a:r>
              <a:rPr sz="1500" b="0" i="0">
                <a:solidFill>
                  <a:srgbClr val="CADCFC"/>
                </a:solidFill>
                <a:latin typeface="Calibri"/>
              </a:rPr>
              <a:t>Source unique pour les dates, contrôles de cohérence, ajout des motifs de départ.</a:t>
            </a:r>
          </a:p>
        </p:txBody>
      </p:sp>
      <p:sp>
        <p:nvSpPr>
          <p:cNvPr id="15" name="Rounded Rectangle 14"/>
          <p:cNvSpPr/>
          <p:nvPr/>
        </p:nvSpPr>
        <p:spPr>
          <a:xfrm>
            <a:off x="548640" y="4480560"/>
            <a:ext cx="11091672" cy="1143000"/>
          </a:xfrm>
          <a:prstGeom prst="roundRect">
            <a:avLst>
              <a:gd name="adj" fmla="val 6000"/>
            </a:avLst>
          </a:prstGeom>
          <a:solidFill>
            <a:srgbClr val="1F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Décision 3"/>
          <p:cNvSpPr/>
          <p:nvPr/>
        </p:nvSpPr>
        <p:spPr>
          <a:xfrm>
            <a:off x="822960" y="4736592"/>
            <a:ext cx="640080" cy="640080"/>
          </a:xfrm>
          <a:prstGeom prst="ellipse">
            <a:avLst/>
          </a:prstGeom>
          <a:solidFill>
            <a:srgbClr val="E855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4736592"/>
            <a:ext cx="640080" cy="640080"/>
          </a:xfrm>
          <a:prstGeom prst="rect">
            <a:avLst/>
          </a:prstGeom>
          <a:noFill/>
        </p:spPr>
        <p:txBody>
          <a:bodyPr wrap="square" anchor="ctr" lIns="0" rIns="0" tIns="0" bIns="0">
            <a:spAutoFit/>
          </a:bodyPr>
          <a:lstStyle/>
          <a:p>
            <a:pPr algn="ctr"/>
            <a:r>
              <a:rPr sz="2400" b="1" i="0">
                <a:solidFill>
                  <a:srgbClr val="FFFFFF"/>
                </a:solidFill>
                <a:latin typeface="Cambria"/>
              </a:rPr>
              <a:t>3</a:t>
            </a:r>
          </a:p>
        </p:txBody>
      </p:sp>
      <p:sp>
        <p:nvSpPr>
          <p:cNvPr id="18" name="TextBox 17"/>
          <p:cNvSpPr txBox="1"/>
          <p:nvPr/>
        </p:nvSpPr>
        <p:spPr>
          <a:xfrm>
            <a:off x="1783080" y="4663440"/>
            <a:ext cx="9509760" cy="457200"/>
          </a:xfrm>
          <a:prstGeom prst="rect">
            <a:avLst/>
          </a:prstGeom>
          <a:noFill/>
        </p:spPr>
        <p:txBody>
          <a:bodyPr wrap="square" anchor="t" lIns="0" rIns="0" tIns="0" bIns="0">
            <a:spAutoFit/>
          </a:bodyPr>
          <a:lstStyle/>
          <a:p>
            <a:pPr algn="l"/>
            <a:r>
              <a:rPr sz="2200" b="1" i="0">
                <a:solidFill>
                  <a:srgbClr val="FFFFFF"/>
                </a:solidFill>
                <a:latin typeface="Cambria"/>
              </a:rPr>
              <a:t>Cadrer rémunération et recrutement</a:t>
            </a:r>
          </a:p>
        </p:txBody>
      </p:sp>
      <p:sp>
        <p:nvSpPr>
          <p:cNvPr id="19" name="TextBox 18"/>
          <p:cNvSpPr txBox="1"/>
          <p:nvPr/>
        </p:nvSpPr>
        <p:spPr>
          <a:xfrm>
            <a:off x="1783080" y="5138928"/>
            <a:ext cx="9509760" cy="365760"/>
          </a:xfrm>
          <a:prstGeom prst="rect">
            <a:avLst/>
          </a:prstGeom>
          <a:noFill/>
        </p:spPr>
        <p:txBody>
          <a:bodyPr wrap="square" anchor="t" lIns="0" rIns="0" tIns="0" bIns="0">
            <a:spAutoFit/>
          </a:bodyPr>
          <a:lstStyle/>
          <a:p>
            <a:pPr algn="l"/>
            <a:r>
              <a:rPr sz="1500" b="0" i="0">
                <a:solidFill>
                  <a:srgbClr val="CADCFC"/>
                </a:solidFill>
                <a:latin typeface="Calibri"/>
              </a:rPr>
              <a:t>Mandat pour étudier une grille salariale et un plan de recrutement.</a:t>
            </a:r>
          </a:p>
        </p:txBody>
      </p:sp>
      <p:sp>
        <p:nvSpPr>
          <p:cNvPr id="20" name="TextBox 19"/>
          <p:cNvSpPr txBox="1"/>
          <p:nvPr/>
        </p:nvSpPr>
        <p:spPr>
          <a:xfrm>
            <a:off x="548640" y="5897880"/>
            <a:ext cx="11064240" cy="365760"/>
          </a:xfrm>
          <a:prstGeom prst="rect">
            <a:avLst/>
          </a:prstGeom>
          <a:noFill/>
        </p:spPr>
        <p:txBody>
          <a:bodyPr wrap="square" anchor="t" lIns="0" rIns="0" tIns="0" bIns="0">
            <a:spAutoFit/>
          </a:bodyPr>
          <a:lstStyle/>
          <a:p>
            <a:pPr algn="l"/>
            <a:r>
              <a:rPr sz="1600" b="1" i="0">
                <a:solidFill>
                  <a:srgbClr val="FFB4A3"/>
                </a:solidFill>
                <a:latin typeface="Calibri"/>
              </a:rPr>
              <a:t>Prochaine étape proposée : point d'avancement dans 90 jours.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re"/>
          <p:cNvSpPr txBox="1"/>
          <p:nvPr/>
        </p:nvSpPr>
        <p:spPr>
          <a:xfrm>
            <a:off x="548640" y="411480"/>
            <a:ext cx="11064240" cy="1051560"/>
          </a:xfrm>
          <a:prstGeom prst="rect">
            <a:avLst/>
          </a:prstGeom>
          <a:noFill/>
        </p:spPr>
        <p:txBody>
          <a:bodyPr wrap="square" anchor="t" lIns="0" rIns="0" tIns="0" bIns="0">
            <a:spAutoFit/>
          </a:bodyPr>
          <a:lstStyle/>
          <a:p>
            <a:pPr algn="l"/>
            <a:r>
              <a:rPr sz="3000" b="1" i="0">
                <a:solidFill>
                  <a:srgbClr val="14213D"/>
                </a:solidFill>
                <a:latin typeface="Cambria"/>
              </a:rPr>
              <a:t>Annexe : indicateurs clés par département</a:t>
            </a:r>
          </a:p>
        </p:txBody>
      </p:sp>
      <p:sp>
        <p:nvSpPr>
          <p:cNvPr id="3" name="Pied de page"/>
          <p:cNvSpPr txBox="1"/>
          <p:nvPr/>
        </p:nvSpPr>
        <p:spPr>
          <a:xfrm>
            <a:off x="548640" y="6400800"/>
            <a:ext cx="7315200" cy="274320"/>
          </a:xfrm>
          <a:prstGeom prst="rect">
            <a:avLst/>
          </a:prstGeom>
          <a:noFill/>
        </p:spPr>
        <p:txBody>
          <a:bodyPr wrap="square" anchor="t" lIns="0" rIns="0" tIns="0" bIns="0">
            <a:spAutoFit/>
          </a:bodyPr>
          <a:lstStyle/>
          <a:p>
            <a:pPr algn="l"/>
            <a:r>
              <a:rPr sz="1000" b="0" i="0">
                <a:solidFill>
                  <a:srgbClr val="5B6475"/>
                </a:solidFill>
                <a:latin typeface="Calibri"/>
              </a:rPr>
              <a:t>DataLendo · RH Analytics · Octobre 2026</a:t>
            </a:r>
          </a:p>
        </p:txBody>
      </p:sp>
      <p:sp>
        <p:nvSpPr>
          <p:cNvPr id="4" name="Numéro"/>
          <p:cNvSpPr txBox="1"/>
          <p:nvPr/>
        </p:nvSpPr>
        <p:spPr>
          <a:xfrm>
            <a:off x="10698480" y="6400800"/>
            <a:ext cx="941832" cy="274320"/>
          </a:xfrm>
          <a:prstGeom prst="rect">
            <a:avLst/>
          </a:prstGeom>
          <a:noFill/>
        </p:spPr>
        <p:txBody>
          <a:bodyPr wrap="square" anchor="t" lIns="0" rIns="0" tIns="0" bIns="0">
            <a:spAutoFit/>
          </a:bodyPr>
          <a:lstStyle/>
          <a:p>
            <a:pPr algn="r"/>
            <a:r>
              <a:rPr sz="1000" b="0" i="0">
                <a:solidFill>
                  <a:srgbClr val="5B6475"/>
                </a:solidFill>
                <a:latin typeface="Calibri"/>
              </a:rPr>
              <a:t>12 / 12</a:t>
            </a:r>
          </a:p>
        </p:txBody>
      </p:sp>
      <p:graphicFrame>
        <p:nvGraphicFramePr>
          <p:cNvPr id="5" name="Table 4"/>
          <p:cNvGraphicFramePr>
            <a:graphicFrameLocks noGrp="1"/>
          </p:cNvGraphicFramePr>
          <p:nvPr/>
        </p:nvGraphicFramePr>
        <p:xfrm>
          <a:off x="548640" y="1463040"/>
          <a:ext cx="11091671" cy="4224528"/>
        </p:xfrm>
        <a:graphic>
          <a:graphicData uri="http://schemas.openxmlformats.org/drawingml/2006/table">
            <a:tbl>
              <a:tblPr firstRow="1" bandRow="1">
                <a:tableStyleId>{5C22544A-7EE6-4342-B048-85BDC9FD1C3A}</a:tableStyleId>
              </a:tblPr>
              <a:tblGrid>
                <a:gridCol w="2926080"/>
                <a:gridCol w="914400"/>
                <a:gridCol w="1188720"/>
                <a:gridCol w="1371600"/>
                <a:gridCol w="1371600"/>
                <a:gridCol w="1280160"/>
                <a:gridCol w="1005840"/>
                <a:gridCol w="1033271"/>
              </a:tblGrid>
              <a:tr h="384048">
                <a:tc>
                  <a:txBody>
                    <a:bodyPr/>
                    <a:lstStyle/>
                    <a:p>
                      <a:pPr algn="l"/>
                      <a:r>
                        <a:rPr sz="1300" b="1">
                          <a:solidFill>
                            <a:srgbClr val="FFFFFF"/>
                          </a:solidFill>
                          <a:latin typeface="Calibri"/>
                        </a:rPr>
                        <a:t>Département</a:t>
                      </a:r>
                    </a:p>
                  </a:txBody>
                  <a:tcPr marL="91440" marR="91440" anchor="ctr">
                    <a:solidFill>
                      <a:srgbClr val="14213D"/>
                    </a:solidFill>
                  </a:tcPr>
                </a:tc>
                <a:tc>
                  <a:txBody>
                    <a:bodyPr/>
                    <a:lstStyle/>
                    <a:p>
                      <a:pPr algn="r"/>
                      <a:r>
                        <a:rPr sz="1300" b="1">
                          <a:solidFill>
                            <a:srgbClr val="FFFFFF"/>
                          </a:solidFill>
                          <a:latin typeface="Calibri"/>
                        </a:rPr>
                        <a:t>Actifs</a:t>
                      </a:r>
                    </a:p>
                  </a:txBody>
                  <a:tcPr marL="91440" marR="91440" anchor="ctr">
                    <a:solidFill>
                      <a:srgbClr val="14213D"/>
                    </a:solidFill>
                  </a:tcPr>
                </a:tc>
                <a:tc>
                  <a:txBody>
                    <a:bodyPr/>
                    <a:lstStyle/>
                    <a:p>
                      <a:pPr algn="r"/>
                      <a:r>
                        <a:rPr sz="1300" b="1">
                          <a:solidFill>
                            <a:srgbClr val="FFFFFF"/>
                          </a:solidFill>
                          <a:latin typeface="Calibri"/>
                        </a:rPr>
                        <a:t>Turnover</a:t>
                      </a:r>
                    </a:p>
                  </a:txBody>
                  <a:tcPr marL="91440" marR="91440" anchor="ctr">
                    <a:solidFill>
                      <a:srgbClr val="14213D"/>
                    </a:solidFill>
                  </a:tcPr>
                </a:tc>
                <a:tc>
                  <a:txBody>
                    <a:bodyPr/>
                    <a:lstStyle/>
                    <a:p>
                      <a:pPr algn="r"/>
                      <a:r>
                        <a:rPr sz="1300" b="1">
                          <a:solidFill>
                            <a:srgbClr val="FFFFFF"/>
                          </a:solidFill>
                          <a:latin typeface="Calibri"/>
                        </a:rPr>
                        <a:t>Départs 12 m</a:t>
                      </a:r>
                    </a:p>
                  </a:txBody>
                  <a:tcPr marL="91440" marR="91440" anchor="ctr">
                    <a:solidFill>
                      <a:srgbClr val="14213D"/>
                    </a:solidFill>
                  </a:tcPr>
                </a:tc>
                <a:tc>
                  <a:txBody>
                    <a:bodyPr/>
                    <a:lstStyle/>
                    <a:p>
                      <a:pPr algn="r"/>
                      <a:r>
                        <a:rPr sz="1300" b="1">
                          <a:solidFill>
                            <a:srgbClr val="FFFFFF"/>
                          </a:solidFill>
                          <a:latin typeface="Calibri"/>
                        </a:rPr>
                        <a:t>Salaire moyen</a:t>
                      </a:r>
                    </a:p>
                  </a:txBody>
                  <a:tcPr marL="91440" marR="91440" anchor="ctr">
                    <a:solidFill>
                      <a:srgbClr val="14213D"/>
                    </a:solidFill>
                  </a:tcPr>
                </a:tc>
                <a:tc>
                  <a:txBody>
                    <a:bodyPr/>
                    <a:lstStyle/>
                    <a:p>
                      <a:pPr algn="r"/>
                      <a:r>
                        <a:rPr sz="1300" b="1">
                          <a:solidFill>
                            <a:srgbClr val="FFFFFF"/>
                          </a:solidFill>
                          <a:latin typeface="Calibri"/>
                        </a:rPr>
                        <a:t>Score trim.</a:t>
                      </a:r>
                    </a:p>
                  </a:txBody>
                  <a:tcPr marL="91440" marR="91440" anchor="ctr">
                    <a:solidFill>
                      <a:srgbClr val="14213D"/>
                    </a:solidFill>
                  </a:tcPr>
                </a:tc>
                <a:tc>
                  <a:txBody>
                    <a:bodyPr/>
                    <a:lstStyle/>
                    <a:p>
                      <a:pPr algn="r"/>
                      <a:r>
                        <a:rPr sz="1300" b="1">
                          <a:solidFill>
                            <a:srgbClr val="FFFFFF"/>
                          </a:solidFill>
                          <a:latin typeface="Calibri"/>
                        </a:rPr>
                        <a:t>% élevé</a:t>
                      </a:r>
                    </a:p>
                  </a:txBody>
                  <a:tcPr marL="91440" marR="91440" anchor="ctr">
                    <a:solidFill>
                      <a:srgbClr val="14213D"/>
                    </a:solidFill>
                  </a:tcPr>
                </a:tc>
                <a:tc>
                  <a:txBody>
                    <a:bodyPr/>
                    <a:lstStyle/>
                    <a:p>
                      <a:pPr algn="r"/>
                      <a:r>
                        <a:rPr sz="1300" b="1">
                          <a:solidFill>
                            <a:srgbClr val="FFFFFF"/>
                          </a:solidFill>
                          <a:latin typeface="Calibri"/>
                        </a:rPr>
                        <a:t>% faible</a:t>
                      </a:r>
                    </a:p>
                  </a:txBody>
                  <a:tcPr marL="91440" marR="91440" anchor="ctr">
                    <a:solidFill>
                      <a:srgbClr val="14213D"/>
                    </a:solidFill>
                  </a:tcPr>
                </a:tc>
              </a:tr>
              <a:tr h="384048">
                <a:tc>
                  <a:txBody>
                    <a:bodyPr/>
                    <a:lstStyle/>
                    <a:p>
                      <a:pPr algn="l"/>
                      <a:r>
                        <a:rPr sz="1300" b="0">
                          <a:solidFill>
                            <a:srgbClr val="1B1F2A"/>
                          </a:solidFill>
                          <a:latin typeface="Calibri"/>
                        </a:rPr>
                        <a:t>Opérations</a:t>
                      </a:r>
                    </a:p>
                  </a:txBody>
                  <a:tcPr marL="91440" marR="91440" anchor="ctr">
                    <a:solidFill>
                      <a:srgbClr val="FFFFFF"/>
                    </a:solidFill>
                  </a:tcPr>
                </a:tc>
                <a:tc>
                  <a:txBody>
                    <a:bodyPr/>
                    <a:lstStyle/>
                    <a:p>
                      <a:pPr algn="r"/>
                      <a:r>
                        <a:rPr sz="1300" b="0">
                          <a:solidFill>
                            <a:srgbClr val="1B1F2A"/>
                          </a:solidFill>
                          <a:latin typeface="Calibri"/>
                        </a:rPr>
                        <a:t>128</a:t>
                      </a:r>
                    </a:p>
                  </a:txBody>
                  <a:tcPr marL="91440" marR="91440" anchor="ctr">
                    <a:solidFill>
                      <a:srgbClr val="FFFFFF"/>
                    </a:solidFill>
                  </a:tcPr>
                </a:tc>
                <a:tc>
                  <a:txBody>
                    <a:bodyPr/>
                    <a:lstStyle/>
                    <a:p>
                      <a:pPr algn="r"/>
                      <a:r>
                        <a:rPr sz="1300" b="0">
                          <a:solidFill>
                            <a:srgbClr val="1B1F2A"/>
                          </a:solidFill>
                          <a:latin typeface="Calibri"/>
                        </a:rPr>
                        <a:t>14,7 %</a:t>
                      </a:r>
                    </a:p>
                  </a:txBody>
                  <a:tcPr marL="91440" marR="91440" anchor="ctr">
                    <a:solidFill>
                      <a:srgbClr val="FFFFFF"/>
                    </a:solidFill>
                  </a:tcPr>
                </a:tc>
                <a:tc>
                  <a:txBody>
                    <a:bodyPr/>
                    <a:lstStyle/>
                    <a:p>
                      <a:pPr algn="r"/>
                      <a:r>
                        <a:rPr sz="1300" b="0">
                          <a:solidFill>
                            <a:srgbClr val="1B1F2A"/>
                          </a:solidFill>
                          <a:latin typeface="Calibri"/>
                        </a:rPr>
                        <a:t>2</a:t>
                      </a:r>
                    </a:p>
                  </a:txBody>
                  <a:tcPr marL="91440" marR="91440" anchor="ctr">
                    <a:solidFill>
                      <a:srgbClr val="FFFFFF"/>
                    </a:solidFill>
                  </a:tcPr>
                </a:tc>
                <a:tc>
                  <a:txBody>
                    <a:bodyPr/>
                    <a:lstStyle/>
                    <a:p>
                      <a:pPr algn="r"/>
                      <a:r>
                        <a:rPr sz="1300" b="0">
                          <a:solidFill>
                            <a:srgbClr val="1B1F2A"/>
                          </a:solidFill>
                          <a:latin typeface="Calibri"/>
                        </a:rPr>
                        <a:t>2 728</a:t>
                      </a:r>
                    </a:p>
                  </a:txBody>
                  <a:tcPr marL="91440" marR="91440" anchor="ctr">
                    <a:solidFill>
                      <a:srgbClr val="FFFFFF"/>
                    </a:solidFill>
                  </a:tcPr>
                </a:tc>
                <a:tc>
                  <a:txBody>
                    <a:bodyPr/>
                    <a:lstStyle/>
                    <a:p>
                      <a:pPr algn="r"/>
                      <a:r>
                        <a:rPr sz="1300" b="0">
                          <a:solidFill>
                            <a:srgbClr val="1B1F2A"/>
                          </a:solidFill>
                          <a:latin typeface="Calibri"/>
                        </a:rPr>
                        <a:t>74,9</a:t>
                      </a:r>
                    </a:p>
                  </a:txBody>
                  <a:tcPr marL="91440" marR="91440" anchor="ctr">
                    <a:solidFill>
                      <a:srgbClr val="FFFFFF"/>
                    </a:solidFill>
                  </a:tcPr>
                </a:tc>
                <a:tc>
                  <a:txBody>
                    <a:bodyPr/>
                    <a:lstStyle/>
                    <a:p>
                      <a:pPr algn="r"/>
                      <a:r>
                        <a:rPr sz="1300" b="0">
                          <a:solidFill>
                            <a:srgbClr val="1B1F2A"/>
                          </a:solidFill>
                          <a:latin typeface="Calibri"/>
                        </a:rPr>
                        <a:t>23,4 %</a:t>
                      </a:r>
                    </a:p>
                  </a:txBody>
                  <a:tcPr marL="91440" marR="91440" anchor="ctr">
                    <a:solidFill>
                      <a:srgbClr val="FFFFFF"/>
                    </a:solidFill>
                  </a:tcPr>
                </a:tc>
                <a:tc>
                  <a:txBody>
                    <a:bodyPr/>
                    <a:lstStyle/>
                    <a:p>
                      <a:pPr algn="r"/>
                      <a:r>
                        <a:rPr sz="1300" b="0">
                          <a:solidFill>
                            <a:srgbClr val="1B1F2A"/>
                          </a:solidFill>
                          <a:latin typeface="Calibri"/>
                        </a:rPr>
                        <a:t>10,6 %</a:t>
                      </a:r>
                    </a:p>
                  </a:txBody>
                  <a:tcPr marL="91440" marR="91440" anchor="ctr">
                    <a:solidFill>
                      <a:srgbClr val="FFFFFF"/>
                    </a:solidFill>
                  </a:tcPr>
                </a:tc>
              </a:tr>
              <a:tr h="384048">
                <a:tc>
                  <a:txBody>
                    <a:bodyPr/>
                    <a:lstStyle/>
                    <a:p>
                      <a:pPr algn="l"/>
                      <a:r>
                        <a:rPr sz="1300" b="0">
                          <a:solidFill>
                            <a:srgbClr val="1B1F2A"/>
                          </a:solidFill>
                          <a:latin typeface="Calibri"/>
                        </a:rPr>
                        <a:t>Direction Générale</a:t>
                      </a:r>
                    </a:p>
                  </a:txBody>
                  <a:tcPr marL="91440" marR="91440" anchor="ctr">
                    <a:solidFill>
                      <a:srgbClr val="EEF2F8"/>
                    </a:solidFill>
                  </a:tcPr>
                </a:tc>
                <a:tc>
                  <a:txBody>
                    <a:bodyPr/>
                    <a:lstStyle/>
                    <a:p>
                      <a:pPr algn="r"/>
                      <a:r>
                        <a:rPr sz="1300" b="0">
                          <a:solidFill>
                            <a:srgbClr val="1B1F2A"/>
                          </a:solidFill>
                          <a:latin typeface="Calibri"/>
                        </a:rPr>
                        <a:t>112</a:t>
                      </a:r>
                    </a:p>
                  </a:txBody>
                  <a:tcPr marL="91440" marR="91440" anchor="ctr">
                    <a:solidFill>
                      <a:srgbClr val="EEF2F8"/>
                    </a:solidFill>
                  </a:tcPr>
                </a:tc>
                <a:tc>
                  <a:txBody>
                    <a:bodyPr/>
                    <a:lstStyle/>
                    <a:p>
                      <a:pPr algn="r"/>
                      <a:r>
                        <a:rPr sz="1300" b="0">
                          <a:solidFill>
                            <a:srgbClr val="1B1F2A"/>
                          </a:solidFill>
                          <a:latin typeface="Calibri"/>
                        </a:rPr>
                        <a:t>13,8 %</a:t>
                      </a:r>
                    </a:p>
                  </a:txBody>
                  <a:tcPr marL="91440" marR="91440" anchor="ctr">
                    <a:solidFill>
                      <a:srgbClr val="EEF2F8"/>
                    </a:solidFill>
                  </a:tcPr>
                </a:tc>
                <a:tc>
                  <a:txBody>
                    <a:bodyPr/>
                    <a:lstStyle/>
                    <a:p>
                      <a:pPr algn="r"/>
                      <a:r>
                        <a:rPr sz="1300" b="0">
                          <a:solidFill>
                            <a:srgbClr val="1B1F2A"/>
                          </a:solidFill>
                          <a:latin typeface="Calibri"/>
                        </a:rPr>
                        <a:t>0</a:t>
                      </a:r>
                    </a:p>
                  </a:txBody>
                  <a:tcPr marL="91440" marR="91440" anchor="ctr">
                    <a:solidFill>
                      <a:srgbClr val="EEF2F8"/>
                    </a:solidFill>
                  </a:tcPr>
                </a:tc>
                <a:tc>
                  <a:txBody>
                    <a:bodyPr/>
                    <a:lstStyle/>
                    <a:p>
                      <a:pPr algn="r"/>
                      <a:r>
                        <a:rPr sz="1300" b="0">
                          <a:solidFill>
                            <a:srgbClr val="1B1F2A"/>
                          </a:solidFill>
                          <a:latin typeface="Calibri"/>
                        </a:rPr>
                        <a:t>3 099</a:t>
                      </a:r>
                    </a:p>
                  </a:txBody>
                  <a:tcPr marL="91440" marR="91440" anchor="ctr">
                    <a:solidFill>
                      <a:srgbClr val="EEF2F8"/>
                    </a:solidFill>
                  </a:tcPr>
                </a:tc>
                <a:tc>
                  <a:txBody>
                    <a:bodyPr/>
                    <a:lstStyle/>
                    <a:p>
                      <a:pPr algn="r"/>
                      <a:r>
                        <a:rPr sz="1300" b="0">
                          <a:solidFill>
                            <a:srgbClr val="1B1F2A"/>
                          </a:solidFill>
                          <a:latin typeface="Calibri"/>
                        </a:rPr>
                        <a:t>74,2</a:t>
                      </a:r>
                    </a:p>
                  </a:txBody>
                  <a:tcPr marL="91440" marR="91440" anchor="ctr">
                    <a:solidFill>
                      <a:srgbClr val="EEF2F8"/>
                    </a:solidFill>
                  </a:tcPr>
                </a:tc>
                <a:tc>
                  <a:txBody>
                    <a:bodyPr/>
                    <a:lstStyle/>
                    <a:p>
                      <a:pPr algn="r"/>
                      <a:r>
                        <a:rPr sz="1300" b="0">
                          <a:solidFill>
                            <a:srgbClr val="1B1F2A"/>
                          </a:solidFill>
                          <a:latin typeface="Calibri"/>
                        </a:rPr>
                        <a:t>22,1 %</a:t>
                      </a:r>
                    </a:p>
                  </a:txBody>
                  <a:tcPr marL="91440" marR="91440" anchor="ctr">
                    <a:solidFill>
                      <a:srgbClr val="EEF2F8"/>
                    </a:solidFill>
                  </a:tcPr>
                </a:tc>
                <a:tc>
                  <a:txBody>
                    <a:bodyPr/>
                    <a:lstStyle/>
                    <a:p>
                      <a:pPr algn="r"/>
                      <a:r>
                        <a:rPr sz="1300" b="0">
                          <a:solidFill>
                            <a:srgbClr val="1B1F2A"/>
                          </a:solidFill>
                          <a:latin typeface="Calibri"/>
                        </a:rPr>
                        <a:t>20,5 %</a:t>
                      </a:r>
                    </a:p>
                  </a:txBody>
                  <a:tcPr marL="91440" marR="91440" anchor="ctr">
                    <a:solidFill>
                      <a:srgbClr val="EEF2F8"/>
                    </a:solidFill>
                  </a:tcPr>
                </a:tc>
              </a:tr>
              <a:tr h="384048">
                <a:tc>
                  <a:txBody>
                    <a:bodyPr/>
                    <a:lstStyle/>
                    <a:p>
                      <a:pPr algn="l"/>
                      <a:r>
                        <a:rPr sz="1300" b="0">
                          <a:solidFill>
                            <a:srgbClr val="1B1F2A"/>
                          </a:solidFill>
                          <a:latin typeface="Calibri"/>
                        </a:rPr>
                        <a:t>Juridique</a:t>
                      </a:r>
                    </a:p>
                  </a:txBody>
                  <a:tcPr marL="91440" marR="91440" anchor="ctr">
                    <a:solidFill>
                      <a:srgbClr val="FFFFFF"/>
                    </a:solidFill>
                  </a:tcPr>
                </a:tc>
                <a:tc>
                  <a:txBody>
                    <a:bodyPr/>
                    <a:lstStyle/>
                    <a:p>
                      <a:pPr algn="r"/>
                      <a:r>
                        <a:rPr sz="1300" b="0">
                          <a:solidFill>
                            <a:srgbClr val="1B1F2A"/>
                          </a:solidFill>
                          <a:latin typeface="Calibri"/>
                        </a:rPr>
                        <a:t>141</a:t>
                      </a:r>
                    </a:p>
                  </a:txBody>
                  <a:tcPr marL="91440" marR="91440" anchor="ctr">
                    <a:solidFill>
                      <a:srgbClr val="FFFFFF"/>
                    </a:solidFill>
                  </a:tcPr>
                </a:tc>
                <a:tc>
                  <a:txBody>
                    <a:bodyPr/>
                    <a:lstStyle/>
                    <a:p>
                      <a:pPr algn="r"/>
                      <a:r>
                        <a:rPr sz="1300" b="0">
                          <a:solidFill>
                            <a:srgbClr val="1B1F2A"/>
                          </a:solidFill>
                          <a:latin typeface="Calibri"/>
                        </a:rPr>
                        <a:t>12,4 %</a:t>
                      </a:r>
                    </a:p>
                  </a:txBody>
                  <a:tcPr marL="91440" marR="91440" anchor="ctr">
                    <a:solidFill>
                      <a:srgbClr val="FFFFFF"/>
                    </a:solidFill>
                  </a:tcPr>
                </a:tc>
                <a:tc>
                  <a:txBody>
                    <a:bodyPr/>
                    <a:lstStyle/>
                    <a:p>
                      <a:pPr algn="r"/>
                      <a:r>
                        <a:rPr sz="1300" b="0">
                          <a:solidFill>
                            <a:srgbClr val="1B1F2A"/>
                          </a:solidFill>
                          <a:latin typeface="Calibri"/>
                        </a:rPr>
                        <a:t>1</a:t>
                      </a:r>
                    </a:p>
                  </a:txBody>
                  <a:tcPr marL="91440" marR="91440" anchor="ctr">
                    <a:solidFill>
                      <a:srgbClr val="FFFFFF"/>
                    </a:solidFill>
                  </a:tcPr>
                </a:tc>
                <a:tc>
                  <a:txBody>
                    <a:bodyPr/>
                    <a:lstStyle/>
                    <a:p>
                      <a:pPr algn="r"/>
                      <a:r>
                        <a:rPr sz="1300" b="0">
                          <a:solidFill>
                            <a:srgbClr val="1B1F2A"/>
                          </a:solidFill>
                          <a:latin typeface="Calibri"/>
                        </a:rPr>
                        <a:t>2 985</a:t>
                      </a:r>
                    </a:p>
                  </a:txBody>
                  <a:tcPr marL="91440" marR="91440" anchor="ctr">
                    <a:solidFill>
                      <a:srgbClr val="FFFFFF"/>
                    </a:solidFill>
                  </a:tcPr>
                </a:tc>
                <a:tc>
                  <a:txBody>
                    <a:bodyPr/>
                    <a:lstStyle/>
                    <a:p>
                      <a:pPr algn="r"/>
                      <a:r>
                        <a:rPr sz="1300" b="0">
                          <a:solidFill>
                            <a:srgbClr val="1B1F2A"/>
                          </a:solidFill>
                          <a:latin typeface="Calibri"/>
                        </a:rPr>
                        <a:t>74,3</a:t>
                      </a:r>
                    </a:p>
                  </a:txBody>
                  <a:tcPr marL="91440" marR="91440" anchor="ctr">
                    <a:solidFill>
                      <a:srgbClr val="FFFFFF"/>
                    </a:solidFill>
                  </a:tcPr>
                </a:tc>
                <a:tc>
                  <a:txBody>
                    <a:bodyPr/>
                    <a:lstStyle/>
                    <a:p>
                      <a:pPr algn="r"/>
                      <a:r>
                        <a:rPr sz="1300" b="0">
                          <a:solidFill>
                            <a:srgbClr val="1B1F2A"/>
                          </a:solidFill>
                          <a:latin typeface="Calibri"/>
                        </a:rPr>
                        <a:t>20,4 %</a:t>
                      </a:r>
                    </a:p>
                  </a:txBody>
                  <a:tcPr marL="91440" marR="91440" anchor="ctr">
                    <a:solidFill>
                      <a:srgbClr val="FFFFFF"/>
                    </a:solidFill>
                  </a:tcPr>
                </a:tc>
                <a:tc>
                  <a:txBody>
                    <a:bodyPr/>
                    <a:lstStyle/>
                    <a:p>
                      <a:pPr algn="r"/>
                      <a:r>
                        <a:rPr sz="1300" b="0">
                          <a:solidFill>
                            <a:srgbClr val="1B1F2A"/>
                          </a:solidFill>
                          <a:latin typeface="Calibri"/>
                        </a:rPr>
                        <a:t>17,1 %</a:t>
                      </a:r>
                    </a:p>
                  </a:txBody>
                  <a:tcPr marL="91440" marR="91440" anchor="ctr">
                    <a:solidFill>
                      <a:srgbClr val="FFFFFF"/>
                    </a:solidFill>
                  </a:tcPr>
                </a:tc>
              </a:tr>
              <a:tr h="384048">
                <a:tc>
                  <a:txBody>
                    <a:bodyPr/>
                    <a:lstStyle/>
                    <a:p>
                      <a:pPr algn="l"/>
                      <a:r>
                        <a:rPr sz="1300" b="0">
                          <a:solidFill>
                            <a:srgbClr val="1B1F2A"/>
                          </a:solidFill>
                          <a:latin typeface="Calibri"/>
                        </a:rPr>
                        <a:t>Informatique</a:t>
                      </a:r>
                    </a:p>
                  </a:txBody>
                  <a:tcPr marL="91440" marR="91440" anchor="ctr">
                    <a:solidFill>
                      <a:srgbClr val="EEF2F8"/>
                    </a:solidFill>
                  </a:tcPr>
                </a:tc>
                <a:tc>
                  <a:txBody>
                    <a:bodyPr/>
                    <a:lstStyle/>
                    <a:p>
                      <a:pPr algn="r"/>
                      <a:r>
                        <a:rPr sz="1300" b="0">
                          <a:solidFill>
                            <a:srgbClr val="1B1F2A"/>
                          </a:solidFill>
                          <a:latin typeface="Calibri"/>
                        </a:rPr>
                        <a:t>140</a:t>
                      </a:r>
                    </a:p>
                  </a:txBody>
                  <a:tcPr marL="91440" marR="91440" anchor="ctr">
                    <a:solidFill>
                      <a:srgbClr val="EEF2F8"/>
                    </a:solidFill>
                  </a:tcPr>
                </a:tc>
                <a:tc>
                  <a:txBody>
                    <a:bodyPr/>
                    <a:lstStyle/>
                    <a:p>
                      <a:pPr algn="r"/>
                      <a:r>
                        <a:rPr sz="1300" b="0">
                          <a:solidFill>
                            <a:srgbClr val="1B1F2A"/>
                          </a:solidFill>
                          <a:latin typeface="Calibri"/>
                        </a:rPr>
                        <a:t>11,9 %</a:t>
                      </a:r>
                    </a:p>
                  </a:txBody>
                  <a:tcPr marL="91440" marR="91440" anchor="ctr">
                    <a:solidFill>
                      <a:srgbClr val="EEF2F8"/>
                    </a:solidFill>
                  </a:tcPr>
                </a:tc>
                <a:tc>
                  <a:txBody>
                    <a:bodyPr/>
                    <a:lstStyle/>
                    <a:p>
                      <a:pPr algn="r"/>
                      <a:r>
                        <a:rPr sz="1300" b="0">
                          <a:solidFill>
                            <a:srgbClr val="1B1F2A"/>
                          </a:solidFill>
                          <a:latin typeface="Calibri"/>
                        </a:rPr>
                        <a:t>4</a:t>
                      </a:r>
                    </a:p>
                  </a:txBody>
                  <a:tcPr marL="91440" marR="91440" anchor="ctr">
                    <a:solidFill>
                      <a:srgbClr val="EEF2F8"/>
                    </a:solidFill>
                  </a:tcPr>
                </a:tc>
                <a:tc>
                  <a:txBody>
                    <a:bodyPr/>
                    <a:lstStyle/>
                    <a:p>
                      <a:pPr algn="r"/>
                      <a:r>
                        <a:rPr sz="1300" b="0">
                          <a:solidFill>
                            <a:srgbClr val="1B1F2A"/>
                          </a:solidFill>
                          <a:latin typeface="Calibri"/>
                        </a:rPr>
                        <a:t>2 958</a:t>
                      </a:r>
                    </a:p>
                  </a:txBody>
                  <a:tcPr marL="91440" marR="91440" anchor="ctr">
                    <a:solidFill>
                      <a:srgbClr val="EEF2F8"/>
                    </a:solidFill>
                  </a:tcPr>
                </a:tc>
                <a:tc>
                  <a:txBody>
                    <a:bodyPr/>
                    <a:lstStyle/>
                    <a:p>
                      <a:pPr algn="r"/>
                      <a:r>
                        <a:rPr sz="1300" b="0">
                          <a:solidFill>
                            <a:srgbClr val="1B1F2A"/>
                          </a:solidFill>
                          <a:latin typeface="Calibri"/>
                        </a:rPr>
                        <a:t>74,3</a:t>
                      </a:r>
                    </a:p>
                  </a:txBody>
                  <a:tcPr marL="91440" marR="91440" anchor="ctr">
                    <a:solidFill>
                      <a:srgbClr val="EEF2F8"/>
                    </a:solidFill>
                  </a:tcPr>
                </a:tc>
                <a:tc>
                  <a:txBody>
                    <a:bodyPr/>
                    <a:lstStyle/>
                    <a:p>
                      <a:pPr algn="r"/>
                      <a:r>
                        <a:rPr sz="1300" b="0">
                          <a:solidFill>
                            <a:srgbClr val="1B1F2A"/>
                          </a:solidFill>
                          <a:latin typeface="Calibri"/>
                        </a:rPr>
                        <a:t>21,9 %</a:t>
                      </a:r>
                    </a:p>
                  </a:txBody>
                  <a:tcPr marL="91440" marR="91440" anchor="ctr">
                    <a:solidFill>
                      <a:srgbClr val="EEF2F8"/>
                    </a:solidFill>
                  </a:tcPr>
                </a:tc>
                <a:tc>
                  <a:txBody>
                    <a:bodyPr/>
                    <a:lstStyle/>
                    <a:p>
                      <a:pPr algn="r"/>
                      <a:r>
                        <a:rPr sz="1300" b="0">
                          <a:solidFill>
                            <a:srgbClr val="1B1F2A"/>
                          </a:solidFill>
                          <a:latin typeface="Calibri"/>
                        </a:rPr>
                        <a:t>14,8 %</a:t>
                      </a:r>
                    </a:p>
                  </a:txBody>
                  <a:tcPr marL="91440" marR="91440" anchor="ctr">
                    <a:solidFill>
                      <a:srgbClr val="EEF2F8"/>
                    </a:solidFill>
                  </a:tcPr>
                </a:tc>
              </a:tr>
              <a:tr h="384048">
                <a:tc>
                  <a:txBody>
                    <a:bodyPr/>
                    <a:lstStyle/>
                    <a:p>
                      <a:pPr algn="l"/>
                      <a:r>
                        <a:rPr sz="1300" b="0">
                          <a:solidFill>
                            <a:srgbClr val="1B1F2A"/>
                          </a:solidFill>
                          <a:latin typeface="Calibri"/>
                        </a:rPr>
                        <a:t>Data &amp; Analytics</a:t>
                      </a:r>
                    </a:p>
                  </a:txBody>
                  <a:tcPr marL="91440" marR="91440" anchor="ctr">
                    <a:solidFill>
                      <a:srgbClr val="FFFFFF"/>
                    </a:solidFill>
                  </a:tcPr>
                </a:tc>
                <a:tc>
                  <a:txBody>
                    <a:bodyPr/>
                    <a:lstStyle/>
                    <a:p>
                      <a:pPr algn="r"/>
                      <a:r>
                        <a:rPr sz="1300" b="0">
                          <a:solidFill>
                            <a:srgbClr val="1B1F2A"/>
                          </a:solidFill>
                          <a:latin typeface="Calibri"/>
                        </a:rPr>
                        <a:t>134</a:t>
                      </a:r>
                    </a:p>
                  </a:txBody>
                  <a:tcPr marL="91440" marR="91440" anchor="ctr">
                    <a:solidFill>
                      <a:srgbClr val="FFFFFF"/>
                    </a:solidFill>
                  </a:tcPr>
                </a:tc>
                <a:tc>
                  <a:txBody>
                    <a:bodyPr/>
                    <a:lstStyle/>
                    <a:p>
                      <a:pPr algn="r"/>
                      <a:r>
                        <a:rPr sz="1300" b="0">
                          <a:solidFill>
                            <a:srgbClr val="1B1F2A"/>
                          </a:solidFill>
                          <a:latin typeface="Calibri"/>
                        </a:rPr>
                        <a:t>11,8 %</a:t>
                      </a:r>
                    </a:p>
                  </a:txBody>
                  <a:tcPr marL="91440" marR="91440" anchor="ctr">
                    <a:solidFill>
                      <a:srgbClr val="FFFFFF"/>
                    </a:solidFill>
                  </a:tcPr>
                </a:tc>
                <a:tc>
                  <a:txBody>
                    <a:bodyPr/>
                    <a:lstStyle/>
                    <a:p>
                      <a:pPr algn="r"/>
                      <a:r>
                        <a:rPr sz="1300" b="0">
                          <a:solidFill>
                            <a:srgbClr val="1B1F2A"/>
                          </a:solidFill>
                          <a:latin typeface="Calibri"/>
                        </a:rPr>
                        <a:t>3</a:t>
                      </a:r>
                    </a:p>
                  </a:txBody>
                  <a:tcPr marL="91440" marR="91440" anchor="ctr">
                    <a:solidFill>
                      <a:srgbClr val="FFFFFF"/>
                    </a:solidFill>
                  </a:tcPr>
                </a:tc>
                <a:tc>
                  <a:txBody>
                    <a:bodyPr/>
                    <a:lstStyle/>
                    <a:p>
                      <a:pPr algn="r"/>
                      <a:r>
                        <a:rPr sz="1300" b="0">
                          <a:solidFill>
                            <a:srgbClr val="1B1F2A"/>
                          </a:solidFill>
                          <a:latin typeface="Calibri"/>
                        </a:rPr>
                        <a:t>2 740</a:t>
                      </a:r>
                    </a:p>
                  </a:txBody>
                  <a:tcPr marL="91440" marR="91440" anchor="ctr">
                    <a:solidFill>
                      <a:srgbClr val="FFFFFF"/>
                    </a:solidFill>
                  </a:tcPr>
                </a:tc>
                <a:tc>
                  <a:txBody>
                    <a:bodyPr/>
                    <a:lstStyle/>
                    <a:p>
                      <a:pPr algn="r"/>
                      <a:r>
                        <a:rPr sz="1300" b="0">
                          <a:solidFill>
                            <a:srgbClr val="1B1F2A"/>
                          </a:solidFill>
                          <a:latin typeface="Calibri"/>
                        </a:rPr>
                        <a:t>74,7</a:t>
                      </a:r>
                    </a:p>
                  </a:txBody>
                  <a:tcPr marL="91440" marR="91440" anchor="ctr">
                    <a:solidFill>
                      <a:srgbClr val="FFFFFF"/>
                    </a:solidFill>
                  </a:tcPr>
                </a:tc>
                <a:tc>
                  <a:txBody>
                    <a:bodyPr/>
                    <a:lstStyle/>
                    <a:p>
                      <a:pPr algn="r"/>
                      <a:r>
                        <a:rPr sz="1300" b="0">
                          <a:solidFill>
                            <a:srgbClr val="1B1F2A"/>
                          </a:solidFill>
                          <a:latin typeface="Calibri"/>
                        </a:rPr>
                        <a:t>27,2 %</a:t>
                      </a:r>
                    </a:p>
                  </a:txBody>
                  <a:tcPr marL="91440" marR="91440" anchor="ctr">
                    <a:solidFill>
                      <a:srgbClr val="FFFFFF"/>
                    </a:solidFill>
                  </a:tcPr>
                </a:tc>
                <a:tc>
                  <a:txBody>
                    <a:bodyPr/>
                    <a:lstStyle/>
                    <a:p>
                      <a:pPr algn="r"/>
                      <a:r>
                        <a:rPr sz="1300" b="0">
                          <a:solidFill>
                            <a:srgbClr val="1B1F2A"/>
                          </a:solidFill>
                          <a:latin typeface="Calibri"/>
                        </a:rPr>
                        <a:t>17,7 %</a:t>
                      </a:r>
                    </a:p>
                  </a:txBody>
                  <a:tcPr marL="91440" marR="91440" anchor="ctr">
                    <a:solidFill>
                      <a:srgbClr val="FFFFFF"/>
                    </a:solidFill>
                  </a:tcPr>
                </a:tc>
              </a:tr>
              <a:tr h="384048">
                <a:tc>
                  <a:txBody>
                    <a:bodyPr/>
                    <a:lstStyle/>
                    <a:p>
                      <a:pPr algn="l"/>
                      <a:r>
                        <a:rPr sz="1300" b="0">
                          <a:solidFill>
                            <a:srgbClr val="1B1F2A"/>
                          </a:solidFill>
                          <a:latin typeface="Calibri"/>
                        </a:rPr>
                        <a:t>Marketing</a:t>
                      </a:r>
                    </a:p>
                  </a:txBody>
                  <a:tcPr marL="91440" marR="91440" anchor="ctr">
                    <a:solidFill>
                      <a:srgbClr val="EEF2F8"/>
                    </a:solidFill>
                  </a:tcPr>
                </a:tc>
                <a:tc>
                  <a:txBody>
                    <a:bodyPr/>
                    <a:lstStyle/>
                    <a:p>
                      <a:pPr algn="r"/>
                      <a:r>
                        <a:rPr sz="1300" b="0">
                          <a:solidFill>
                            <a:srgbClr val="1B1F2A"/>
                          </a:solidFill>
                          <a:latin typeface="Calibri"/>
                        </a:rPr>
                        <a:t>133</a:t>
                      </a:r>
                    </a:p>
                  </a:txBody>
                  <a:tcPr marL="91440" marR="91440" anchor="ctr">
                    <a:solidFill>
                      <a:srgbClr val="EEF2F8"/>
                    </a:solidFill>
                  </a:tcPr>
                </a:tc>
                <a:tc>
                  <a:txBody>
                    <a:bodyPr/>
                    <a:lstStyle/>
                    <a:p>
                      <a:pPr algn="r"/>
                      <a:r>
                        <a:rPr sz="1300" b="0">
                          <a:solidFill>
                            <a:srgbClr val="1B1F2A"/>
                          </a:solidFill>
                          <a:latin typeface="Calibri"/>
                        </a:rPr>
                        <a:t>11,3 %</a:t>
                      </a:r>
                    </a:p>
                  </a:txBody>
                  <a:tcPr marL="91440" marR="91440" anchor="ctr">
                    <a:solidFill>
                      <a:srgbClr val="EEF2F8"/>
                    </a:solidFill>
                  </a:tcPr>
                </a:tc>
                <a:tc>
                  <a:txBody>
                    <a:bodyPr/>
                    <a:lstStyle/>
                    <a:p>
                      <a:pPr algn="r"/>
                      <a:r>
                        <a:rPr sz="1300" b="0">
                          <a:solidFill>
                            <a:srgbClr val="1B1F2A"/>
                          </a:solidFill>
                          <a:latin typeface="Calibri"/>
                        </a:rPr>
                        <a:t>2</a:t>
                      </a:r>
                    </a:p>
                  </a:txBody>
                  <a:tcPr marL="91440" marR="91440" anchor="ctr">
                    <a:solidFill>
                      <a:srgbClr val="EEF2F8"/>
                    </a:solidFill>
                  </a:tcPr>
                </a:tc>
                <a:tc>
                  <a:txBody>
                    <a:bodyPr/>
                    <a:lstStyle/>
                    <a:p>
                      <a:pPr algn="r"/>
                      <a:r>
                        <a:rPr sz="1300" b="0">
                          <a:solidFill>
                            <a:srgbClr val="1B1F2A"/>
                          </a:solidFill>
                          <a:latin typeface="Calibri"/>
                        </a:rPr>
                        <a:t>2 704</a:t>
                      </a:r>
                    </a:p>
                  </a:txBody>
                  <a:tcPr marL="91440" marR="91440" anchor="ctr">
                    <a:solidFill>
                      <a:srgbClr val="EEF2F8"/>
                    </a:solidFill>
                  </a:tcPr>
                </a:tc>
                <a:tc>
                  <a:txBody>
                    <a:bodyPr/>
                    <a:lstStyle/>
                    <a:p>
                      <a:pPr algn="r"/>
                      <a:r>
                        <a:rPr sz="1300" b="0">
                          <a:solidFill>
                            <a:srgbClr val="1B1F2A"/>
                          </a:solidFill>
                          <a:latin typeface="Calibri"/>
                        </a:rPr>
                        <a:t>73,8</a:t>
                      </a:r>
                    </a:p>
                  </a:txBody>
                  <a:tcPr marL="91440" marR="91440" anchor="ctr">
                    <a:solidFill>
                      <a:srgbClr val="EEF2F8"/>
                    </a:solidFill>
                  </a:tcPr>
                </a:tc>
                <a:tc>
                  <a:txBody>
                    <a:bodyPr/>
                    <a:lstStyle/>
                    <a:p>
                      <a:pPr algn="r"/>
                      <a:r>
                        <a:rPr sz="1300" b="0">
                          <a:solidFill>
                            <a:srgbClr val="1B1F2A"/>
                          </a:solidFill>
                          <a:latin typeface="Calibri"/>
                        </a:rPr>
                        <a:t>18,9 %</a:t>
                      </a:r>
                    </a:p>
                  </a:txBody>
                  <a:tcPr marL="91440" marR="91440" anchor="ctr">
                    <a:solidFill>
                      <a:srgbClr val="EEF2F8"/>
                    </a:solidFill>
                  </a:tcPr>
                </a:tc>
                <a:tc>
                  <a:txBody>
                    <a:bodyPr/>
                    <a:lstStyle/>
                    <a:p>
                      <a:pPr algn="r"/>
                      <a:r>
                        <a:rPr sz="1300" b="0">
                          <a:solidFill>
                            <a:srgbClr val="1B1F2A"/>
                          </a:solidFill>
                          <a:latin typeface="Calibri"/>
                        </a:rPr>
                        <a:t>19,6 %</a:t>
                      </a:r>
                    </a:p>
                  </a:txBody>
                  <a:tcPr marL="91440" marR="91440" anchor="ctr">
                    <a:solidFill>
                      <a:srgbClr val="EEF2F8"/>
                    </a:solidFill>
                  </a:tcPr>
                </a:tc>
              </a:tr>
              <a:tr h="384048">
                <a:tc>
                  <a:txBody>
                    <a:bodyPr/>
                    <a:lstStyle/>
                    <a:p>
                      <a:pPr algn="l"/>
                      <a:r>
                        <a:rPr sz="1300" b="0">
                          <a:solidFill>
                            <a:srgbClr val="1B1F2A"/>
                          </a:solidFill>
                          <a:latin typeface="Calibri"/>
                        </a:rPr>
                        <a:t>Finance</a:t>
                      </a:r>
                    </a:p>
                  </a:txBody>
                  <a:tcPr marL="91440" marR="91440" anchor="ctr">
                    <a:solidFill>
                      <a:srgbClr val="FFFFFF"/>
                    </a:solidFill>
                  </a:tcPr>
                </a:tc>
                <a:tc>
                  <a:txBody>
                    <a:bodyPr/>
                    <a:lstStyle/>
                    <a:p>
                      <a:pPr algn="r"/>
                      <a:r>
                        <a:rPr sz="1300" b="0">
                          <a:solidFill>
                            <a:srgbClr val="1B1F2A"/>
                          </a:solidFill>
                          <a:latin typeface="Calibri"/>
                        </a:rPr>
                        <a:t>125</a:t>
                      </a:r>
                    </a:p>
                  </a:txBody>
                  <a:tcPr marL="91440" marR="91440" anchor="ctr">
                    <a:solidFill>
                      <a:srgbClr val="FFFFFF"/>
                    </a:solidFill>
                  </a:tcPr>
                </a:tc>
                <a:tc>
                  <a:txBody>
                    <a:bodyPr/>
                    <a:lstStyle/>
                    <a:p>
                      <a:pPr algn="r"/>
                      <a:r>
                        <a:rPr sz="1300" b="0">
                          <a:solidFill>
                            <a:srgbClr val="1B1F2A"/>
                          </a:solidFill>
                          <a:latin typeface="Calibri"/>
                        </a:rPr>
                        <a:t>10,1 %</a:t>
                      </a:r>
                    </a:p>
                  </a:txBody>
                  <a:tcPr marL="91440" marR="91440" anchor="ctr">
                    <a:solidFill>
                      <a:srgbClr val="FFFFFF"/>
                    </a:solidFill>
                  </a:tcPr>
                </a:tc>
                <a:tc>
                  <a:txBody>
                    <a:bodyPr/>
                    <a:lstStyle/>
                    <a:p>
                      <a:pPr algn="r"/>
                      <a:r>
                        <a:rPr sz="1300" b="0">
                          <a:solidFill>
                            <a:srgbClr val="1B1F2A"/>
                          </a:solidFill>
                          <a:latin typeface="Calibri"/>
                        </a:rPr>
                        <a:t>3</a:t>
                      </a:r>
                    </a:p>
                  </a:txBody>
                  <a:tcPr marL="91440" marR="91440" anchor="ctr">
                    <a:solidFill>
                      <a:srgbClr val="FFFFFF"/>
                    </a:solidFill>
                  </a:tcPr>
                </a:tc>
                <a:tc>
                  <a:txBody>
                    <a:bodyPr/>
                    <a:lstStyle/>
                    <a:p>
                      <a:pPr algn="r"/>
                      <a:r>
                        <a:rPr sz="1300" b="0">
                          <a:solidFill>
                            <a:srgbClr val="1B1F2A"/>
                          </a:solidFill>
                          <a:latin typeface="Calibri"/>
                        </a:rPr>
                        <a:t>3 107</a:t>
                      </a:r>
                    </a:p>
                  </a:txBody>
                  <a:tcPr marL="91440" marR="91440" anchor="ctr">
                    <a:solidFill>
                      <a:srgbClr val="FFFFFF"/>
                    </a:solidFill>
                  </a:tcPr>
                </a:tc>
                <a:tc>
                  <a:txBody>
                    <a:bodyPr/>
                    <a:lstStyle/>
                    <a:p>
                      <a:pPr algn="r"/>
                      <a:r>
                        <a:rPr sz="1300" b="0">
                          <a:solidFill>
                            <a:srgbClr val="1B1F2A"/>
                          </a:solidFill>
                          <a:latin typeface="Calibri"/>
                        </a:rPr>
                        <a:t>74,8</a:t>
                      </a:r>
                    </a:p>
                  </a:txBody>
                  <a:tcPr marL="91440" marR="91440" anchor="ctr">
                    <a:solidFill>
                      <a:srgbClr val="FFFFFF"/>
                    </a:solidFill>
                  </a:tcPr>
                </a:tc>
                <a:tc>
                  <a:txBody>
                    <a:bodyPr/>
                    <a:lstStyle/>
                    <a:p>
                      <a:pPr algn="r"/>
                      <a:r>
                        <a:rPr sz="1300" b="0">
                          <a:solidFill>
                            <a:srgbClr val="1B1F2A"/>
                          </a:solidFill>
                          <a:latin typeface="Calibri"/>
                        </a:rPr>
                        <a:t>26,7 %</a:t>
                      </a:r>
                    </a:p>
                  </a:txBody>
                  <a:tcPr marL="91440" marR="91440" anchor="ctr">
                    <a:solidFill>
                      <a:srgbClr val="FFFFFF"/>
                    </a:solidFill>
                  </a:tcPr>
                </a:tc>
                <a:tc>
                  <a:txBody>
                    <a:bodyPr/>
                    <a:lstStyle/>
                    <a:p>
                      <a:pPr algn="r"/>
                      <a:r>
                        <a:rPr sz="1300" b="0">
                          <a:solidFill>
                            <a:srgbClr val="1B1F2A"/>
                          </a:solidFill>
                          <a:latin typeface="Calibri"/>
                        </a:rPr>
                        <a:t>13,3 %</a:t>
                      </a:r>
                    </a:p>
                  </a:txBody>
                  <a:tcPr marL="91440" marR="91440" anchor="ctr">
                    <a:solidFill>
                      <a:srgbClr val="FFFFFF"/>
                    </a:solidFill>
                  </a:tcPr>
                </a:tc>
              </a:tr>
              <a:tr h="384048">
                <a:tc>
                  <a:txBody>
                    <a:bodyPr/>
                    <a:lstStyle/>
                    <a:p>
                      <a:pPr algn="l"/>
                      <a:r>
                        <a:rPr sz="1300" b="0">
                          <a:solidFill>
                            <a:srgbClr val="1B1F2A"/>
                          </a:solidFill>
                          <a:latin typeface="Calibri"/>
                        </a:rPr>
                        <a:t>Service Client</a:t>
                      </a:r>
                    </a:p>
                  </a:txBody>
                  <a:tcPr marL="91440" marR="91440" anchor="ctr">
                    <a:solidFill>
                      <a:srgbClr val="EEF2F8"/>
                    </a:solidFill>
                  </a:tcPr>
                </a:tc>
                <a:tc>
                  <a:txBody>
                    <a:bodyPr/>
                    <a:lstStyle/>
                    <a:p>
                      <a:pPr algn="r"/>
                      <a:r>
                        <a:rPr sz="1300" b="0">
                          <a:solidFill>
                            <a:srgbClr val="1B1F2A"/>
                          </a:solidFill>
                          <a:latin typeface="Calibri"/>
                        </a:rPr>
                        <a:t>123</a:t>
                      </a:r>
                    </a:p>
                  </a:txBody>
                  <a:tcPr marL="91440" marR="91440" anchor="ctr">
                    <a:solidFill>
                      <a:srgbClr val="EEF2F8"/>
                    </a:solidFill>
                  </a:tcPr>
                </a:tc>
                <a:tc>
                  <a:txBody>
                    <a:bodyPr/>
                    <a:lstStyle/>
                    <a:p>
                      <a:pPr algn="r"/>
                      <a:r>
                        <a:rPr sz="1300" b="0">
                          <a:solidFill>
                            <a:srgbClr val="1B1F2A"/>
                          </a:solidFill>
                          <a:latin typeface="Calibri"/>
                        </a:rPr>
                        <a:t>9,6 %</a:t>
                      </a:r>
                    </a:p>
                  </a:txBody>
                  <a:tcPr marL="91440" marR="91440" anchor="ctr">
                    <a:solidFill>
                      <a:srgbClr val="EEF2F8"/>
                    </a:solidFill>
                  </a:tcPr>
                </a:tc>
                <a:tc>
                  <a:txBody>
                    <a:bodyPr/>
                    <a:lstStyle/>
                    <a:p>
                      <a:pPr algn="r"/>
                      <a:r>
                        <a:rPr sz="1300" b="0">
                          <a:solidFill>
                            <a:srgbClr val="1B1F2A"/>
                          </a:solidFill>
                          <a:latin typeface="Calibri"/>
                        </a:rPr>
                        <a:t>0</a:t>
                      </a:r>
                    </a:p>
                  </a:txBody>
                  <a:tcPr marL="91440" marR="91440" anchor="ctr">
                    <a:solidFill>
                      <a:srgbClr val="EEF2F8"/>
                    </a:solidFill>
                  </a:tcPr>
                </a:tc>
                <a:tc>
                  <a:txBody>
                    <a:bodyPr/>
                    <a:lstStyle/>
                    <a:p>
                      <a:pPr algn="r"/>
                      <a:r>
                        <a:rPr sz="1300" b="0">
                          <a:solidFill>
                            <a:srgbClr val="1B1F2A"/>
                          </a:solidFill>
                          <a:latin typeface="Calibri"/>
                        </a:rPr>
                        <a:t>3 046</a:t>
                      </a:r>
                    </a:p>
                  </a:txBody>
                  <a:tcPr marL="91440" marR="91440" anchor="ctr">
                    <a:solidFill>
                      <a:srgbClr val="EEF2F8"/>
                    </a:solidFill>
                  </a:tcPr>
                </a:tc>
                <a:tc>
                  <a:txBody>
                    <a:bodyPr/>
                    <a:lstStyle/>
                    <a:p>
                      <a:pPr algn="r"/>
                      <a:r>
                        <a:rPr sz="1300" b="0">
                          <a:solidFill>
                            <a:srgbClr val="1B1F2A"/>
                          </a:solidFill>
                          <a:latin typeface="Calibri"/>
                        </a:rPr>
                        <a:t>74,8</a:t>
                      </a:r>
                    </a:p>
                  </a:txBody>
                  <a:tcPr marL="91440" marR="91440" anchor="ctr">
                    <a:solidFill>
                      <a:srgbClr val="EEF2F8"/>
                    </a:solidFill>
                  </a:tcPr>
                </a:tc>
                <a:tc>
                  <a:txBody>
                    <a:bodyPr/>
                    <a:lstStyle/>
                    <a:p>
                      <a:pPr algn="r"/>
                      <a:r>
                        <a:rPr sz="1300" b="0">
                          <a:solidFill>
                            <a:srgbClr val="1B1F2A"/>
                          </a:solidFill>
                          <a:latin typeface="Calibri"/>
                        </a:rPr>
                        <a:t>29,3 %</a:t>
                      </a:r>
                    </a:p>
                  </a:txBody>
                  <a:tcPr marL="91440" marR="91440" anchor="ctr">
                    <a:solidFill>
                      <a:srgbClr val="EEF2F8"/>
                    </a:solidFill>
                  </a:tcPr>
                </a:tc>
                <a:tc>
                  <a:txBody>
                    <a:bodyPr/>
                    <a:lstStyle/>
                    <a:p>
                      <a:pPr algn="r"/>
                      <a:r>
                        <a:rPr sz="1300" b="0">
                          <a:solidFill>
                            <a:srgbClr val="1B1F2A"/>
                          </a:solidFill>
                          <a:latin typeface="Calibri"/>
                        </a:rPr>
                        <a:t>21,1 %</a:t>
                      </a:r>
                    </a:p>
                  </a:txBody>
                  <a:tcPr marL="91440" marR="91440" anchor="ctr">
                    <a:solidFill>
                      <a:srgbClr val="EEF2F8"/>
                    </a:solidFill>
                  </a:tcPr>
                </a:tc>
              </a:tr>
              <a:tr h="384048">
                <a:tc>
                  <a:txBody>
                    <a:bodyPr/>
                    <a:lstStyle/>
                    <a:p>
                      <a:pPr algn="l"/>
                      <a:r>
                        <a:rPr sz="1300" b="0">
                          <a:solidFill>
                            <a:srgbClr val="1B1F2A"/>
                          </a:solidFill>
                          <a:latin typeface="Calibri"/>
                        </a:rPr>
                        <a:t>Ventes</a:t>
                      </a:r>
                    </a:p>
                  </a:txBody>
                  <a:tcPr marL="91440" marR="91440" anchor="ctr">
                    <a:solidFill>
                      <a:srgbClr val="FFFFFF"/>
                    </a:solidFill>
                  </a:tcPr>
                </a:tc>
                <a:tc>
                  <a:txBody>
                    <a:bodyPr/>
                    <a:lstStyle/>
                    <a:p>
                      <a:pPr algn="r"/>
                      <a:r>
                        <a:rPr sz="1300" b="0">
                          <a:solidFill>
                            <a:srgbClr val="1B1F2A"/>
                          </a:solidFill>
                          <a:latin typeface="Calibri"/>
                        </a:rPr>
                        <a:t>144</a:t>
                      </a:r>
                    </a:p>
                  </a:txBody>
                  <a:tcPr marL="91440" marR="91440" anchor="ctr">
                    <a:solidFill>
                      <a:srgbClr val="FFFFFF"/>
                    </a:solidFill>
                  </a:tcPr>
                </a:tc>
                <a:tc>
                  <a:txBody>
                    <a:bodyPr/>
                    <a:lstStyle/>
                    <a:p>
                      <a:pPr algn="r"/>
                      <a:r>
                        <a:rPr sz="1300" b="0">
                          <a:solidFill>
                            <a:srgbClr val="1B1F2A"/>
                          </a:solidFill>
                          <a:latin typeface="Calibri"/>
                        </a:rPr>
                        <a:t>9,4 %</a:t>
                      </a:r>
                    </a:p>
                  </a:txBody>
                  <a:tcPr marL="91440" marR="91440" anchor="ctr">
                    <a:solidFill>
                      <a:srgbClr val="FFFFFF"/>
                    </a:solidFill>
                  </a:tcPr>
                </a:tc>
                <a:tc>
                  <a:txBody>
                    <a:bodyPr/>
                    <a:lstStyle/>
                    <a:p>
                      <a:pPr algn="r"/>
                      <a:r>
                        <a:rPr sz="1300" b="0">
                          <a:solidFill>
                            <a:srgbClr val="1B1F2A"/>
                          </a:solidFill>
                          <a:latin typeface="Calibri"/>
                        </a:rPr>
                        <a:t>5</a:t>
                      </a:r>
                    </a:p>
                  </a:txBody>
                  <a:tcPr marL="91440" marR="91440" anchor="ctr">
                    <a:solidFill>
                      <a:srgbClr val="FFFFFF"/>
                    </a:solidFill>
                  </a:tcPr>
                </a:tc>
                <a:tc>
                  <a:txBody>
                    <a:bodyPr/>
                    <a:lstStyle/>
                    <a:p>
                      <a:pPr algn="r"/>
                      <a:r>
                        <a:rPr sz="1300" b="0">
                          <a:solidFill>
                            <a:srgbClr val="1B1F2A"/>
                          </a:solidFill>
                          <a:latin typeface="Calibri"/>
                        </a:rPr>
                        <a:t>2 929</a:t>
                      </a:r>
                    </a:p>
                  </a:txBody>
                  <a:tcPr marL="91440" marR="91440" anchor="ctr">
                    <a:solidFill>
                      <a:srgbClr val="FFFFFF"/>
                    </a:solidFill>
                  </a:tcPr>
                </a:tc>
                <a:tc>
                  <a:txBody>
                    <a:bodyPr/>
                    <a:lstStyle/>
                    <a:p>
                      <a:pPr algn="r"/>
                      <a:r>
                        <a:rPr sz="1300" b="0">
                          <a:solidFill>
                            <a:srgbClr val="1B1F2A"/>
                          </a:solidFill>
                          <a:latin typeface="Calibri"/>
                        </a:rPr>
                        <a:t>74,2</a:t>
                      </a:r>
                    </a:p>
                  </a:txBody>
                  <a:tcPr marL="91440" marR="91440" anchor="ctr">
                    <a:solidFill>
                      <a:srgbClr val="FFFFFF"/>
                    </a:solidFill>
                  </a:tcPr>
                </a:tc>
                <a:tc>
                  <a:txBody>
                    <a:bodyPr/>
                    <a:lstStyle/>
                    <a:p>
                      <a:pPr algn="r"/>
                      <a:r>
                        <a:rPr sz="1300" b="0">
                          <a:solidFill>
                            <a:srgbClr val="1B1F2A"/>
                          </a:solidFill>
                          <a:latin typeface="Calibri"/>
                        </a:rPr>
                        <a:t>25,5 %</a:t>
                      </a:r>
                    </a:p>
                  </a:txBody>
                  <a:tcPr marL="91440" marR="91440" anchor="ctr">
                    <a:solidFill>
                      <a:srgbClr val="FFFFFF"/>
                    </a:solidFill>
                  </a:tcPr>
                </a:tc>
                <a:tc>
                  <a:txBody>
                    <a:bodyPr/>
                    <a:lstStyle/>
                    <a:p>
                      <a:pPr algn="r"/>
                      <a:r>
                        <a:rPr sz="1300" b="0">
                          <a:solidFill>
                            <a:srgbClr val="1B1F2A"/>
                          </a:solidFill>
                          <a:latin typeface="Calibri"/>
                        </a:rPr>
                        <a:t>22,3 %</a:t>
                      </a:r>
                    </a:p>
                  </a:txBody>
                  <a:tcPr marL="91440" marR="91440" anchor="ctr">
                    <a:solidFill>
                      <a:srgbClr val="FFFFFF"/>
                    </a:solidFill>
                  </a:tcPr>
                </a:tc>
              </a:tr>
              <a:tr h="384048">
                <a:tc>
                  <a:txBody>
                    <a:bodyPr/>
                    <a:lstStyle/>
                    <a:p>
                      <a:pPr algn="l"/>
                      <a:r>
                        <a:rPr sz="1300" b="0">
                          <a:solidFill>
                            <a:srgbClr val="1B1F2A"/>
                          </a:solidFill>
                          <a:latin typeface="Calibri"/>
                        </a:rPr>
                        <a:t>Ressources Humaines</a:t>
                      </a:r>
                    </a:p>
                  </a:txBody>
                  <a:tcPr marL="91440" marR="91440" anchor="ctr">
                    <a:solidFill>
                      <a:srgbClr val="EEF2F8"/>
                    </a:solidFill>
                  </a:tcPr>
                </a:tc>
                <a:tc>
                  <a:txBody>
                    <a:bodyPr/>
                    <a:lstStyle/>
                    <a:p>
                      <a:pPr algn="r"/>
                      <a:r>
                        <a:rPr sz="1300" b="0">
                          <a:solidFill>
                            <a:srgbClr val="1B1F2A"/>
                          </a:solidFill>
                          <a:latin typeface="Calibri"/>
                        </a:rPr>
                        <a:t>149</a:t>
                      </a:r>
                    </a:p>
                  </a:txBody>
                  <a:tcPr marL="91440" marR="91440" anchor="ctr">
                    <a:solidFill>
                      <a:srgbClr val="EEF2F8"/>
                    </a:solidFill>
                  </a:tcPr>
                </a:tc>
                <a:tc>
                  <a:txBody>
                    <a:bodyPr/>
                    <a:lstStyle/>
                    <a:p>
                      <a:pPr algn="r"/>
                      <a:r>
                        <a:rPr sz="1300" b="0">
                          <a:solidFill>
                            <a:srgbClr val="1B1F2A"/>
                          </a:solidFill>
                          <a:latin typeface="Calibri"/>
                        </a:rPr>
                        <a:t>9,2 %</a:t>
                      </a:r>
                    </a:p>
                  </a:txBody>
                  <a:tcPr marL="91440" marR="91440" anchor="ctr">
                    <a:solidFill>
                      <a:srgbClr val="EEF2F8"/>
                    </a:solidFill>
                  </a:tcPr>
                </a:tc>
                <a:tc>
                  <a:txBody>
                    <a:bodyPr/>
                    <a:lstStyle/>
                    <a:p>
                      <a:pPr algn="r"/>
                      <a:r>
                        <a:rPr sz="1300" b="0">
                          <a:solidFill>
                            <a:srgbClr val="1B1F2A"/>
                          </a:solidFill>
                          <a:latin typeface="Calibri"/>
                        </a:rPr>
                        <a:t>3</a:t>
                      </a:r>
                    </a:p>
                  </a:txBody>
                  <a:tcPr marL="91440" marR="91440" anchor="ctr">
                    <a:solidFill>
                      <a:srgbClr val="EEF2F8"/>
                    </a:solidFill>
                  </a:tcPr>
                </a:tc>
                <a:tc>
                  <a:txBody>
                    <a:bodyPr/>
                    <a:lstStyle/>
                    <a:p>
                      <a:pPr algn="r"/>
                      <a:r>
                        <a:rPr sz="1300" b="0">
                          <a:solidFill>
                            <a:srgbClr val="1B1F2A"/>
                          </a:solidFill>
                          <a:latin typeface="Calibri"/>
                        </a:rPr>
                        <a:t>2 887</a:t>
                      </a:r>
                    </a:p>
                  </a:txBody>
                  <a:tcPr marL="91440" marR="91440" anchor="ctr">
                    <a:solidFill>
                      <a:srgbClr val="EEF2F8"/>
                    </a:solidFill>
                  </a:tcPr>
                </a:tc>
                <a:tc>
                  <a:txBody>
                    <a:bodyPr/>
                    <a:lstStyle/>
                    <a:p>
                      <a:pPr algn="r"/>
                      <a:r>
                        <a:rPr sz="1300" b="0">
                          <a:solidFill>
                            <a:srgbClr val="1B1F2A"/>
                          </a:solidFill>
                          <a:latin typeface="Calibri"/>
                        </a:rPr>
                        <a:t>74,5</a:t>
                      </a:r>
                    </a:p>
                  </a:txBody>
                  <a:tcPr marL="91440" marR="91440" anchor="ctr">
                    <a:solidFill>
                      <a:srgbClr val="EEF2F8"/>
                    </a:solidFill>
                  </a:tcPr>
                </a:tc>
                <a:tc>
                  <a:txBody>
                    <a:bodyPr/>
                    <a:lstStyle/>
                    <a:p>
                      <a:pPr algn="r"/>
                      <a:r>
                        <a:rPr sz="1300" b="0">
                          <a:solidFill>
                            <a:srgbClr val="1B1F2A"/>
                          </a:solidFill>
                          <a:latin typeface="Calibri"/>
                        </a:rPr>
                        <a:t>23,4 %</a:t>
                      </a:r>
                    </a:p>
                  </a:txBody>
                  <a:tcPr marL="91440" marR="91440" anchor="ctr">
                    <a:solidFill>
                      <a:srgbClr val="EEF2F8"/>
                    </a:solidFill>
                  </a:tcPr>
                </a:tc>
                <a:tc>
                  <a:txBody>
                    <a:bodyPr/>
                    <a:lstStyle/>
                    <a:p>
                      <a:pPr algn="r"/>
                      <a:r>
                        <a:rPr sz="1300" b="0">
                          <a:solidFill>
                            <a:srgbClr val="1B1F2A"/>
                          </a:solidFill>
                          <a:latin typeface="Calibri"/>
                        </a:rPr>
                        <a:t>16,5 %</a:t>
                      </a:r>
                    </a:p>
                  </a:txBody>
                  <a:tcPr marL="91440" marR="91440" anchor="ctr">
                    <a:solidFill>
                      <a:srgbClr val="EEF2F8"/>
                    </a:solidFill>
                  </a:tcPr>
                </a:tc>
              </a:tr>
            </a:tbl>
          </a:graphicData>
        </a:graphic>
      </p:graphicFrame>
      <p:sp>
        <p:nvSpPr>
          <p:cNvPr id="6" name="TextBox 5"/>
          <p:cNvSpPr txBox="1"/>
          <p:nvPr/>
        </p:nvSpPr>
        <p:spPr>
          <a:xfrm>
            <a:off x="548640" y="5852160"/>
            <a:ext cx="11064240" cy="457200"/>
          </a:xfrm>
          <a:prstGeom prst="rect">
            <a:avLst/>
          </a:prstGeom>
          <a:noFill/>
        </p:spPr>
        <p:txBody>
          <a:bodyPr wrap="square" anchor="t" lIns="0" rIns="0" tIns="0" bIns="0">
            <a:spAutoFit/>
          </a:bodyPr>
          <a:lstStyle/>
          <a:p>
            <a:pPr algn="l"/>
            <a:r>
              <a:rPr sz="1200" b="0" i="1">
                <a:solidFill>
                  <a:srgbClr val="5B6475"/>
                </a:solidFill>
                <a:latin typeface="Calibri"/>
              </a:rPr>
              <a:t>Classement par turnover décroissant. Écarts entre départements non significatifs (p = 0,89 turnover, p = 0,63 score). Salaire : moyenne des actifs ; score : moyenne des scores trimestriels.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